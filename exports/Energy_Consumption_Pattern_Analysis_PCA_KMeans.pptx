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4287cde4664993" /><Relationship Type="http://schemas.openxmlformats.org/officeDocument/2006/relationships/extended-properties" Target="/docProps/app.xml" Id="Re7e44959e02047e0" /><Relationship Type="http://schemas.openxmlformats.org/officeDocument/2006/relationships/officeDocument" Target="/ppt/presentation.xml" Id="R5f1fc379672b4e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c1c5ff99bf4b1b"/>
  </p:sldMasterIdLst>
  <p:notesMasterIdLst>
    <p:notesMasterId xmlns:r="http://schemas.openxmlformats.org/officeDocument/2006/relationships" r:id="Rc0ff2a992aae4225"/>
  </p:notesMasterIdLst>
  <p:sldIdLst>
    <p:sldId xmlns:r="http://schemas.openxmlformats.org/officeDocument/2006/relationships" id="256" r:id="R7d8e8f2a11994e81"/>
    <p:sldId xmlns:r="http://schemas.openxmlformats.org/officeDocument/2006/relationships" id="257" r:id="Rbe618d943d994ade"/>
    <p:sldId xmlns:r="http://schemas.openxmlformats.org/officeDocument/2006/relationships" id="258" r:id="R4096636b5a9c4690"/>
    <p:sldId xmlns:r="http://schemas.openxmlformats.org/officeDocument/2006/relationships" id="259" r:id="R0f1ecbfb37eb4e1d"/>
    <p:sldId xmlns:r="http://schemas.openxmlformats.org/officeDocument/2006/relationships" id="260" r:id="R3bda7b477faf41ac"/>
    <p:sldId xmlns:r="http://schemas.openxmlformats.org/officeDocument/2006/relationships" id="261" r:id="R9b5d673fa669493b"/>
    <p:sldId xmlns:r="http://schemas.openxmlformats.org/officeDocument/2006/relationships" id="262" r:id="R85468cb707ab4f31"/>
    <p:sldId xmlns:r="http://schemas.openxmlformats.org/officeDocument/2006/relationships" id="263" r:id="Rd394673d15054ce0"/>
    <p:sldId xmlns:r="http://schemas.openxmlformats.org/officeDocument/2006/relationships" id="264" r:id="Rfa70fb93d03a418f"/>
    <p:sldId xmlns:r="http://schemas.openxmlformats.org/officeDocument/2006/relationships" id="265" r:id="R6eab8a896e444647"/>
    <p:sldId xmlns:r="http://schemas.openxmlformats.org/officeDocument/2006/relationships" id="266" r:id="R108a61e05cfc4c22"/>
    <p:sldId xmlns:r="http://schemas.openxmlformats.org/officeDocument/2006/relationships" id="267" r:id="R804c3ec7f2f54c20"/>
    <p:sldId xmlns:r="http://schemas.openxmlformats.org/officeDocument/2006/relationships" id="268" r:id="R229bc155db6a4421"/>
    <p:sldId xmlns:r="http://schemas.openxmlformats.org/officeDocument/2006/relationships" id="269" r:id="R196829e0b32e42d9"/>
    <p:sldId xmlns:r="http://schemas.openxmlformats.org/officeDocument/2006/relationships" id="270" r:id="Rc1a7fa18969e4a6a"/>
    <p:sldId xmlns:r="http://schemas.openxmlformats.org/officeDocument/2006/relationships" id="271" r:id="Rc103ebd3ef6e4e43"/>
    <p:sldId xmlns:r="http://schemas.openxmlformats.org/officeDocument/2006/relationships" id="272" r:id="R2d947da55b144ef7"/>
    <p:sldId xmlns:r="http://schemas.openxmlformats.org/officeDocument/2006/relationships" id="273" r:id="Rf0f0c3026d104d93"/>
    <p:sldId xmlns:r="http://schemas.openxmlformats.org/officeDocument/2006/relationships" id="274" r:id="Rfd5ba827618b4384"/>
    <p:sldId xmlns:r="http://schemas.openxmlformats.org/officeDocument/2006/relationships" id="275" r:id="R47012615efd941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f2618bd7b84418" /><Relationship Type="http://schemas.openxmlformats.org/officeDocument/2006/relationships/slideMaster" Target="/ppt/slideMasters/slideMaster1.xml" Id="R93c1c5ff99bf4b1b" /><Relationship Type="http://schemas.openxmlformats.org/officeDocument/2006/relationships/notesMaster" Target="/ppt/notesMasters/notesMaster1.xml" Id="Rc0ff2a992aae4225" /><Relationship Type="http://schemas.openxmlformats.org/officeDocument/2006/relationships/presProps" Target="/ppt/presProps.xml" Id="R0eff837f0f8a4461" /><Relationship Type="http://schemas.openxmlformats.org/officeDocument/2006/relationships/tableStyles" Target="/ppt/tableStyles.xml" Id="R84af99bcf5bf4be4" /><Relationship Type="http://schemas.openxmlformats.org/officeDocument/2006/relationships/slide" Target="/ppt/slides/slide1.xml" Id="R7d8e8f2a11994e81" /><Relationship Type="http://schemas.openxmlformats.org/officeDocument/2006/relationships/slide" Target="/ppt/slides/slide2.xml" Id="Rbe618d943d994ade" /><Relationship Type="http://schemas.openxmlformats.org/officeDocument/2006/relationships/slide" Target="/ppt/slides/slide3.xml" Id="R4096636b5a9c4690" /><Relationship Type="http://schemas.openxmlformats.org/officeDocument/2006/relationships/slide" Target="/ppt/slides/slide4.xml" Id="R0f1ecbfb37eb4e1d" /><Relationship Type="http://schemas.openxmlformats.org/officeDocument/2006/relationships/slide" Target="/ppt/slides/slide5.xml" Id="R3bda7b477faf41ac" /><Relationship Type="http://schemas.openxmlformats.org/officeDocument/2006/relationships/slide" Target="/ppt/slides/slide6.xml" Id="R9b5d673fa669493b" /><Relationship Type="http://schemas.openxmlformats.org/officeDocument/2006/relationships/slide" Target="/ppt/slides/slide7.xml" Id="R85468cb707ab4f31" /><Relationship Type="http://schemas.openxmlformats.org/officeDocument/2006/relationships/slide" Target="/ppt/slides/slide8.xml" Id="Rd394673d15054ce0" /><Relationship Type="http://schemas.openxmlformats.org/officeDocument/2006/relationships/slide" Target="/ppt/slides/slide9.xml" Id="Rfa70fb93d03a418f" /><Relationship Type="http://schemas.openxmlformats.org/officeDocument/2006/relationships/slide" Target="/ppt/slides/slide10.xml" Id="R6eab8a896e444647" /><Relationship Type="http://schemas.openxmlformats.org/officeDocument/2006/relationships/slide" Target="/ppt/slides/slide11.xml" Id="R108a61e05cfc4c22" /><Relationship Type="http://schemas.openxmlformats.org/officeDocument/2006/relationships/slide" Target="/ppt/slides/slide12.xml" Id="R804c3ec7f2f54c20" /><Relationship Type="http://schemas.openxmlformats.org/officeDocument/2006/relationships/slide" Target="/ppt/slides/slide13.xml" Id="R229bc155db6a4421" /><Relationship Type="http://schemas.openxmlformats.org/officeDocument/2006/relationships/slide" Target="/ppt/slides/slide14.xml" Id="R196829e0b32e42d9" /><Relationship Type="http://schemas.openxmlformats.org/officeDocument/2006/relationships/slide" Target="/ppt/slides/slide15.xml" Id="Rc1a7fa18969e4a6a" /><Relationship Type="http://schemas.openxmlformats.org/officeDocument/2006/relationships/slide" Target="/ppt/slides/slide16.xml" Id="Rc103ebd3ef6e4e43" /><Relationship Type="http://schemas.openxmlformats.org/officeDocument/2006/relationships/slide" Target="/ppt/slides/slide17.xml" Id="R2d947da55b144ef7" /><Relationship Type="http://schemas.openxmlformats.org/officeDocument/2006/relationships/slide" Target="/ppt/slides/slide18.xml" Id="Rf0f0c3026d104d93" /><Relationship Type="http://schemas.openxmlformats.org/officeDocument/2006/relationships/slide" Target="/ppt/slides/slide19.xml" Id="Rfd5ba827618b4384" /><Relationship Type="http://schemas.openxmlformats.org/officeDocument/2006/relationships/slide" Target="/ppt/slides/slide20.xml" Id="R47012615efd941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b307c4a0e54d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902b15c6494ba9" /><Relationship Type="http://schemas.openxmlformats.org/officeDocument/2006/relationships/notesMaster" Target="/ppt/notesMasters/notesMaster1.xml" Id="R1ebc75f366e346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2987c7c8e745a3" /><Relationship Type="http://schemas.openxmlformats.org/officeDocument/2006/relationships/notesMaster" Target="/ppt/notesMasters/notesMaster1.xml" Id="R62adb1ed3f404e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4bc2a3640d4e72" /><Relationship Type="http://schemas.openxmlformats.org/officeDocument/2006/relationships/notesMaster" Target="/ppt/notesMasters/notesMaster1.xml" Id="R866fdbface0249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d46db6259e47d1" /><Relationship Type="http://schemas.openxmlformats.org/officeDocument/2006/relationships/notesMaster" Target="/ppt/notesMasters/notesMaster1.xml" Id="Rede37696e2b14d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a4d16d4fb748a6" /><Relationship Type="http://schemas.openxmlformats.org/officeDocument/2006/relationships/notesMaster" Target="/ppt/notesMasters/notesMaster1.xml" Id="R19aaf4faa2d740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79f28db0044f4a" /><Relationship Type="http://schemas.openxmlformats.org/officeDocument/2006/relationships/notesMaster" Target="/ppt/notesMasters/notesMaster1.xml" Id="Refd94c6350b744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2862d9b1f24e6b" /><Relationship Type="http://schemas.openxmlformats.org/officeDocument/2006/relationships/notesMaster" Target="/ppt/notesMasters/notesMaster1.xml" Id="R15416cf0749240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1d0027b6304199" /><Relationship Type="http://schemas.openxmlformats.org/officeDocument/2006/relationships/notesMaster" Target="/ppt/notesMasters/notesMaster1.xml" Id="R3f3b4f992ec34b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2c04829e6a48e9" /><Relationship Type="http://schemas.openxmlformats.org/officeDocument/2006/relationships/notesMaster" Target="/ppt/notesMasters/notesMaster1.xml" Id="Rd7615d58352743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b64e0e15384e97" /><Relationship Type="http://schemas.openxmlformats.org/officeDocument/2006/relationships/notesMaster" Target="/ppt/notesMasters/notesMaster1.xml" Id="Rf4aa6a4a0b8f47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d53293421642ac" /><Relationship Type="http://schemas.openxmlformats.org/officeDocument/2006/relationships/notesMaster" Target="/ppt/notesMasters/notesMaster1.xml" Id="R6c9bdb7ebcd949d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64a4822c264fde" /><Relationship Type="http://schemas.openxmlformats.org/officeDocument/2006/relationships/notesMaster" Target="/ppt/notesMasters/notesMaster1.xml" Id="Ra837a77304cc465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55bacaef42429b" /><Relationship Type="http://schemas.openxmlformats.org/officeDocument/2006/relationships/notesMaster" Target="/ppt/notesMasters/notesMaster1.xml" Id="R7e35667cf70e49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b5736316db485d" /><Relationship Type="http://schemas.openxmlformats.org/officeDocument/2006/relationships/notesMaster" Target="/ppt/notesMasters/notesMaster1.xml" Id="R877fb93a9c78452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ddbdd7ca7464bf8" /><Relationship Type="http://schemas.openxmlformats.org/officeDocument/2006/relationships/notesMaster" Target="/ppt/notesMasters/notesMaster1.xml" Id="R1827ccc722df405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b82474d207f4114" /><Relationship Type="http://schemas.openxmlformats.org/officeDocument/2006/relationships/notesMaster" Target="/ppt/notesMasters/notesMaster1.xml" Id="R9d7a0ef7a6c148d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a8e1c81fc844461" /><Relationship Type="http://schemas.openxmlformats.org/officeDocument/2006/relationships/notesMaster" Target="/ppt/notesMasters/notesMaster1.xml" Id="Rd468ab6755b343f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9bbc50fe21d4d66" /><Relationship Type="http://schemas.openxmlformats.org/officeDocument/2006/relationships/notesMaster" Target="/ppt/notesMasters/notesMaster1.xml" Id="Raddd805274c743c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feb7688b7d14ff5" /><Relationship Type="http://schemas.openxmlformats.org/officeDocument/2006/relationships/notesMaster" Target="/ppt/notesMasters/notesMaster1.xml" Id="R0a4cfdc71b224a0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253054729c34cc7" /><Relationship Type="http://schemas.openxmlformats.org/officeDocument/2006/relationships/notesMaster" Target="/ppt/notesMasters/notesMaster1.xml" Id="R3d44235a09ad45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presentation/index.html; flagship results in web/public/data/*.json.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conceptual premise in presentation/index.html; real profiles in web/public/data/profiles.json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web/public/data/profiles.json; presentation/index.html slide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RESULTS.md; docs/verification.md; models/analysis_metadata.json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presentation/index.html slide 5; README.md methodology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section 5; presentation/index.html slide 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section 6; outputs/metrics/pca_loadings.csv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web/public/data/pca.json; dark_mode_plots/figures/component_loadings.png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web/public/data/pca.json; dark_mode_plots/figures/explained_variance.png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web/public/data/clustering.json; dark_mode_plots/figures/k_selection_metrics.png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web/public/data/clustering.json; dark_mode_plots/figures/silhouette_scores.png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web/public/data/profiles.json; dark_mode_plots/figures/hourly_patterns.png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web/public/data/validation.json; dark_mode_plots/figures/archetype_recovery.png and archetype_crosstab.png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web/public/data/explainability.json; dark_mode_plots/figures/shap_cluster_importance.png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web/public/data/seasonal.json; dark_mode_plots seasonal figures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web/public/data/longitudinal.json; dark_mode_plots/figures/longitudinal_cluster_stability.png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section 22.5; presentation/index.html slide 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web/public/data/benchmark.json; README.md C++ engine section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RESULTS.md runs 1 and 2; docs/verification.md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RESULTS.md sections 4 and 6; presentation/index.html slide 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c2c9c48c3843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b4891aae37413d" /><Relationship Type="http://schemas.openxmlformats.org/officeDocument/2006/relationships/slideLayout" Target="/ppt/slideLayouts/slideLayout1.xml" Id="R72ee9772f43045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ee9772f43045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803c0688047ab" /><Relationship Type="http://schemas.openxmlformats.org/officeDocument/2006/relationships/image" Target="/ppt/media/image.png" Id="R1ee31b2d7840410e" /><Relationship Type="http://schemas.openxmlformats.org/officeDocument/2006/relationships/notesSlide" Target="/ppt/notesSlides/notesSlide1.xml" Id="R3bdafb08fe2e4f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e260b608a4055" /><Relationship Type="http://schemas.openxmlformats.org/officeDocument/2006/relationships/image" Target="/ppt/media/image2.png" Id="R74e832feb1c34f62" /><Relationship Type="http://schemas.openxmlformats.org/officeDocument/2006/relationships/notesSlide" Target="/ppt/notesSlides/notesSlide2.xml" Id="R46d4b39ae10a43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7299b8cb84af6" /><Relationship Type="http://schemas.openxmlformats.org/officeDocument/2006/relationships/notesSlide" Target="/ppt/notesSlides/notesSlide3.xml" Id="Re32c4833ad8644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2d9b4c6384c34" /><Relationship Type="http://schemas.openxmlformats.org/officeDocument/2006/relationships/notesSlide" Target="/ppt/notesSlides/notesSlide4.xml" Id="R9b9d2b179a3341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a87d3105e450e" /><Relationship Type="http://schemas.openxmlformats.org/officeDocument/2006/relationships/notesSlide" Target="/ppt/notesSlides/notesSlide5.xml" Id="Rbb57fe7e09f04c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e2d463c004119" /><Relationship Type="http://schemas.openxmlformats.org/officeDocument/2006/relationships/notesSlide" Target="/ppt/notesSlides/notesSlide6.xml" Id="Rdcf9594b29d344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793fb831f4713" /><Relationship Type="http://schemas.openxmlformats.org/officeDocument/2006/relationships/image" Target="/ppt/media/image3.png" Id="R08aee02a9896493d" /><Relationship Type="http://schemas.openxmlformats.org/officeDocument/2006/relationships/notesSlide" Target="/ppt/notesSlides/notesSlide7.xml" Id="R11b3d287ba0542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1d21d1e964490" /><Relationship Type="http://schemas.openxmlformats.org/officeDocument/2006/relationships/image" Target="/ppt/media/image4.png" Id="Rcb69f53dd50d4e04" /><Relationship Type="http://schemas.openxmlformats.org/officeDocument/2006/relationships/notesSlide" Target="/ppt/notesSlides/notesSlide8.xml" Id="R4ad2c807f0dd42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2c702836241d6" /><Relationship Type="http://schemas.openxmlformats.org/officeDocument/2006/relationships/image" Target="/ppt/media/image5.png" Id="R1b9e887fead34716" /><Relationship Type="http://schemas.openxmlformats.org/officeDocument/2006/relationships/notesSlide" Target="/ppt/notesSlides/notesSlide9.xml" Id="Rc4a384eef5ff44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46a00a258498e" /><Relationship Type="http://schemas.openxmlformats.org/officeDocument/2006/relationships/image" Target="/ppt/media/image6.png" Id="R2497b8ce2eeb42fe" /><Relationship Type="http://schemas.openxmlformats.org/officeDocument/2006/relationships/notesSlide" Target="/ppt/notesSlides/notesSlide10.xml" Id="R64dff7040b184d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abf9efc9f41f3" /><Relationship Type="http://schemas.openxmlformats.org/officeDocument/2006/relationships/image" Target="/ppt/media/image7.png" Id="R4a78dccbcc28427a" /><Relationship Type="http://schemas.openxmlformats.org/officeDocument/2006/relationships/notesSlide" Target="/ppt/notesSlides/notesSlide11.xml" Id="R2b1ad812cf51479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7701abb214646" /><Relationship Type="http://schemas.openxmlformats.org/officeDocument/2006/relationships/image" Target="/ppt/media/image8.png" Id="R18d4f5d75357421c" /><Relationship Type="http://schemas.openxmlformats.org/officeDocument/2006/relationships/notesSlide" Target="/ppt/notesSlides/notesSlide12.xml" Id="Rc5d3c00ca2d6437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e95cf4c724b02" /><Relationship Type="http://schemas.openxmlformats.org/officeDocument/2006/relationships/image" Target="/ppt/media/image9.png" Id="Rd098787837ba4791" /><Relationship Type="http://schemas.openxmlformats.org/officeDocument/2006/relationships/image" Target="/ppt/media/image10.png" Id="R58ca55ee88284ef8" /><Relationship Type="http://schemas.openxmlformats.org/officeDocument/2006/relationships/notesSlide" Target="/ppt/notesSlides/notesSlide13.xml" Id="R8a376b47427f4d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3dfe1a0674100" /><Relationship Type="http://schemas.openxmlformats.org/officeDocument/2006/relationships/image" Target="/ppt/media/image11.png" Id="R34bc02aae9ff4a57" /><Relationship Type="http://schemas.openxmlformats.org/officeDocument/2006/relationships/notesSlide" Target="/ppt/notesSlides/notesSlide14.xml" Id="R7ccc13df5ba54a9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156b20f6a4fa2" /><Relationship Type="http://schemas.openxmlformats.org/officeDocument/2006/relationships/image" Target="/ppt/media/image12.png" Id="R27673a3907134b10" /><Relationship Type="http://schemas.openxmlformats.org/officeDocument/2006/relationships/image" Target="/ppt/media/image13.png" Id="Rb7a927d77e784257" /><Relationship Type="http://schemas.openxmlformats.org/officeDocument/2006/relationships/notesSlide" Target="/ppt/notesSlides/notesSlide15.xml" Id="Raefff5302ab942f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d952a3acf4b00" /><Relationship Type="http://schemas.openxmlformats.org/officeDocument/2006/relationships/image" Target="/ppt/media/image14.png" Id="R36875964ec284020" /><Relationship Type="http://schemas.openxmlformats.org/officeDocument/2006/relationships/notesSlide" Target="/ppt/notesSlides/notesSlide16.xml" Id="R1944233b9a4d477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3c6067c084c70" /><Relationship Type="http://schemas.openxmlformats.org/officeDocument/2006/relationships/notesSlide" Target="/ppt/notesSlides/notesSlide17.xml" Id="Ree92b863c11f426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85c8106bc4c26" /><Relationship Type="http://schemas.openxmlformats.org/officeDocument/2006/relationships/notesSlide" Target="/ppt/notesSlides/notesSlide18.xml" Id="Ra3865c8b10174bc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1aaee7bf14a1a" /><Relationship Type="http://schemas.openxmlformats.org/officeDocument/2006/relationships/notesSlide" Target="/ppt/notesSlides/notesSlide19.xml" Id="R19c6f66cb5f2495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5f03ede314275" /><Relationship Type="http://schemas.openxmlformats.org/officeDocument/2006/relationships/notesSlide" Target="/ppt/notesSlides/notesSlide20.xml" Id="Rd11c3e276e2b40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C1177-A7AF-4DEA-922E-BDC0C308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spc="1">
                <a:solidFill>
                  <a:srgbClr val="3BC9DE"/>
                </a:solidFill>
                <a:latin typeface="Arial"/>
                <a:ea typeface="Arial"/>
                <a:cs typeface="Arial"/>
              </a:defRPr>
            </a:pPr>
            <a:r>
              <a:rPr sz="975" b="1" spc="1">
                <a:solidFill>
                  <a:srgbClr val="3BC9DE"/>
                </a:solidFill>
                <a:latin typeface="Arial"/>
                <a:ea typeface="Arial"/>
                <a:cs typeface="Arial"/>
              </a:rPr>
              <a:t>ENERGY CONSUMPTION PATTERN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F1C48-0345-487F-B13C-E8FAC09B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8106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Grouped by when a home uses power, not how much.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A5DC7-9CDC-4957-9AA7-509CAA53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D4DCE8"/>
                </a:solidFill>
                <a:latin typeface="Arial"/>
                <a:ea typeface="Arial"/>
                <a:cs typeface="Arial"/>
              </a:rPr>
              <a:t>A shape-first clustering pipeline for residential energy: 200 synthetic consumers, four hidden archetypes, and one real weather feed.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0D4C0-BCDE-4F60-AF74-0FB44439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52975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FD1A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FD1A5"/>
                </a:solidFill>
                <a:latin typeface="Arial"/>
                <a:ea typeface="Arial"/>
                <a:cs typeface="Arial"/>
              </a:rPr>
              <a:t>200 consumers  •  365 days  •  1,752,000 records  •  51 features  •  K =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B663A-AB9C-47A0-90D4-AF36AFC5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8A93A6"/>
                </a:solidFill>
                <a:latin typeface="Arial"/>
                <a:ea typeface="Arial"/>
                <a:cs typeface="Arial"/>
              </a:rPr>
              <a:t>Flagship config 99c7a6631340d301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31b2d7840410e"/>
          <a:stretch xmlns:a="http://schemas.openxmlformats.org/drawingml/2006/main"/>
        </p:blipFill>
        <p:spPr>
          <a:xfrm xmlns:a="http://schemas.openxmlformats.org/drawingml/2006/main">
            <a:off x="8401050" y="2247726"/>
            <a:ext cx="2952750" cy="16195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4254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38E8C4-9037-4A37-98E3-CCFAD248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3BC9DE"/>
                </a:solidFill>
                <a:latin typeface="Arial"/>
                <a:ea typeface="Arial"/>
                <a:cs typeface="Arial"/>
              </a:defRPr>
            </a:pPr>
            <a:r>
              <a:rPr sz="900" b="1" spc="1">
                <a:solidFill>
                  <a:srgbClr val="3BC9DE"/>
                </a:solidFill>
                <a:latin typeface="Arial"/>
                <a:ea typeface="Arial"/>
                <a:cs typeface="Arial"/>
              </a:rPr>
              <a:t>01 / WHY 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C4F64-DCCD-49D6-BC02-E5236347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 spc="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825" b="1" spc="0">
                <a:solidFill>
                  <a:srgbClr val="8A93A6"/>
                </a:solidFill>
                <a:latin typeface="Arial"/>
                <a:ea typeface="Arial"/>
                <a:cs typeface="Arial"/>
              </a:rPr>
              <a:t>SUNEE   / 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18B88-D052-49CE-9674-576162D8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57014-04EC-4D64-A012-767F2CB2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8A93A6"/>
                </a:solidFill>
                <a:latin typeface="Arial"/>
                <a:ea typeface="Arial"/>
                <a:cs typeface="Arial"/>
              </a:rPr>
              <a:t>Source: conceptual premise in presentation/index.html; real profiles in web/public/data/profiles.json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8D417-C355-4276-80BD-D932EEC2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Two homes can share a bill and share nothing else.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A62D4-EBFF-4898-9020-5E52226E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4095750" cy="3619500"/>
          </a:xfrm>
          <a:prstGeom xmlns:a="http://schemas.openxmlformats.org/drawingml/2006/main" prst="roundRect">
            <a:avLst>
              <a:gd name="adj" fmla="val 2105"/>
            </a:avLst>
          </a:prstGeom>
          <a:ln xmlns:a="http://schemas.openxmlformats.org/drawingml/2006/main" w="19050">
            <a:solidFill>
              <a:srgbClr val="3BC9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AA08D-C1DB-4537-BE7A-05A83024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BC9D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BC9DE"/>
                </a:solidFill>
                <a:latin typeface="Arial"/>
                <a:ea typeface="Arial"/>
                <a:cs typeface="Arial"/>
              </a:rPr>
              <a:t>Same daily total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9B861-DF30-43C4-A27E-9E0819B9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3190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88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D4DCE8"/>
                </a:solidFill>
                <a:latin typeface="Arial"/>
                <a:ea typeface="Arial"/>
                <a:cs typeface="Arial"/>
              </a:rPr>
              <a:t>A bill compresses 24 hours into one number. It cannot distinguish a morning peak from an evening peak.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B3E85-2D32-476D-BCAA-06676C94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FD1A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FD1A5"/>
                </a:solidFill>
                <a:latin typeface="Arial"/>
                <a:ea typeface="Arial"/>
                <a:cs typeface="Arial"/>
              </a:rPr>
              <a:t>The model therefore groups households by the normalized shape of a day, not by raw consumption.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e832feb1c34f62"/>
          <a:stretch xmlns:a="http://schemas.openxmlformats.org/drawingml/2006/main"/>
        </p:blipFill>
        <p:spPr>
          <a:xfrm xmlns:a="http://schemas.openxmlformats.org/drawingml/2006/main">
            <a:off x="5048250" y="1845334"/>
            <a:ext cx="6191250" cy="33959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672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27DF0-B262-483B-B837-D38E8491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3BC9DE"/>
                </a:solidFill>
                <a:latin typeface="Arial"/>
                <a:ea typeface="Arial"/>
                <a:cs typeface="Arial"/>
              </a:defRPr>
            </a:pPr>
            <a:r>
              <a:rPr sz="900" b="1" spc="1">
                <a:solidFill>
                  <a:srgbClr val="3BC9DE"/>
                </a:solidFill>
                <a:latin typeface="Arial"/>
                <a:ea typeface="Arial"/>
                <a:cs typeface="Arial"/>
              </a:rPr>
              <a:t>01 / WHY 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E0CB7-80B7-4A1B-BA29-52541F38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 spc="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825" b="1" spc="0">
                <a:solidFill>
                  <a:srgbClr val="8A93A6"/>
                </a:solidFill>
                <a:latin typeface="Arial"/>
                <a:ea typeface="Arial"/>
                <a:cs typeface="Arial"/>
              </a:rPr>
              <a:t>SUNEE   / 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A821E-6B45-4C60-AF55-761DF73E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E3010-D2E6-4DE4-BF79-6D3AE7C2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8A93A6"/>
                </a:solidFill>
                <a:latin typeface="Arial"/>
                <a:ea typeface="Arial"/>
                <a:cs typeface="Arial"/>
              </a:rPr>
              <a:t>Source: web/public/data/profiles.json; presentation/index.html slide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D7EF3-5B80-4F30-8B66-6001B7E0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Timing tells a utility what magnitude alone cannot.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52450" y="1809750"/>
          <a:ext xmlns:a="http://schemas.openxmlformats.org/drawingml/2006/main" cx="11087100" cy="2524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33625"/>
                <a:gridCol w="1428750"/>
                <a:gridCol w="1428750"/>
                <a:gridCol w="1428750"/>
                <a:gridCol w="1428750"/>
                <a:gridCol w="1714500"/>
              </a:tblGrid>
              <a:tr h="631031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Feature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Population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Midday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Flat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Evening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Evening + weekend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Evening share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0.29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0.24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0.26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085F5"/>
                          </a:solidFill>
                          <a:latin typeface="Arial"/>
                          <a:ea typeface="Arial"/>
                          <a:cs typeface="Arial"/>
                        </a:rPr>
                        <a:t>0.40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FD1A5"/>
                          </a:solidFill>
                          <a:latin typeface="Arial"/>
                          <a:ea typeface="Arial"/>
                          <a:cs typeface="Arial"/>
                        </a:rPr>
                        <a:t>0.36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Peak-to-average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1.58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1.63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1.31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085F5"/>
                          </a:solidFill>
                          <a:latin typeface="Arial"/>
                          <a:ea typeface="Arial"/>
                          <a:cs typeface="Arial"/>
                        </a:rPr>
                        <a:t>1.88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1.59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Weekend ratio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1.04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0.99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1.03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FD1A5"/>
                          </a:solidFill>
                          <a:latin typeface="Arial"/>
                          <a:ea typeface="Arial"/>
                          <a:cs typeface="Arial"/>
                        </a:rPr>
                        <a:t>1.14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9DAD9-038C-4180-9423-53FC53A7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583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4DCE8"/>
                </a:solidFill>
                <a:latin typeface="Arial"/>
                <a:ea typeface="Arial"/>
                <a:cs typeface="Arial"/>
              </a:rPr>
              <a:t>The evening cluster spends 40% of its day in the 18:00–24:00 window. The flat cluster spends about 26%, even when total consumption overlaps.</a:t>
            </a:r>
          </a:p>
        </p:txBody>
      </p:sp>
    </p:spTree>
    <p:extLst>
      <p:ext uri="{BB962C8B-B14F-4D97-AF65-F5344CB8AC3E}">
        <p14:creationId xmlns:p14="http://schemas.microsoft.com/office/powerpoint/2010/main" val="14713477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E117F2-4D72-4157-B1BF-7C2E7236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3BC9DE"/>
                </a:solidFill>
                <a:latin typeface="Arial"/>
                <a:ea typeface="Arial"/>
                <a:cs typeface="Arial"/>
              </a:defRPr>
            </a:pPr>
            <a:r>
              <a:rPr sz="900" b="1" spc="1">
                <a:solidFill>
                  <a:srgbClr val="3BC9DE"/>
                </a:solidFill>
                <a:latin typeface="Arial"/>
                <a:ea typeface="Arial"/>
                <a:cs typeface="Arial"/>
              </a:rPr>
              <a:t>02 /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53A52-286A-4FD1-BC76-BA3E5D19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 spc="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825" b="1" spc="0">
                <a:solidFill>
                  <a:srgbClr val="8A93A6"/>
                </a:solidFill>
                <a:latin typeface="Arial"/>
                <a:ea typeface="Arial"/>
                <a:cs typeface="Arial"/>
              </a:rPr>
              <a:t>SUNEE   / 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5D9FF-FC03-4033-966D-177C1324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5D2E5-AD0F-4B71-A8B6-57B56EC4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8A93A6"/>
                </a:solidFill>
                <a:latin typeface="Arial"/>
                <a:ea typeface="Arial"/>
                <a:cs typeface="Arial"/>
              </a:rPr>
              <a:t>Source: RESULTS.md; docs/verification.md; models/analysis_metadata.json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114CC-F79D-43F7-8B7E-07CB5316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200 consumers, four hidden rhythms, one real weather feed.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52450" y="1714500"/>
          <a:ext xmlns:a="http://schemas.openxmlformats.org/drawingml/2006/main" cx="466725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2286000"/>
              </a:tblGrid>
              <a:tr h="544286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Dataset property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Flagship value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Consumers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FD1A5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Days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FD1A5"/>
                          </a:solidFill>
                          <a:latin typeface="Arial"/>
                          <a:ea typeface="Arial"/>
                          <a:cs typeface="Arial"/>
                        </a:rPr>
                        <a:t>365 across four seasons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Hourly records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FD1A5"/>
                          </a:solidFill>
                          <a:latin typeface="Arial"/>
                          <a:ea typeface="Arial"/>
                          <a:cs typeface="Arial"/>
                        </a:rPr>
                        <a:t>1,752,000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Hidden archetypes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FD1A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Behavioural features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FD1A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Config hash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99c7a6631340d301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5080B-0E27-472E-9CB8-A8DE4223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14500"/>
            <a:ext cx="6019800" cy="3810000"/>
          </a:xfrm>
          <a:prstGeom xmlns:a="http://schemas.openxmlformats.org/drawingml/2006/main" prst="roundRect">
            <a:avLst>
              <a:gd name="adj" fmla="val 2000"/>
            </a:avLst>
          </a:prstGeom>
          <a:ln xmlns:a="http://schemas.openxmlformats.org/drawingml/2006/main" w="19050">
            <a:solidFill>
              <a:srgbClr val="6C8C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A7705-0EAF-445B-92CD-BDD80F35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764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BC9D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BC9DE"/>
                </a:solidFill>
                <a:latin typeface="Arial"/>
                <a:ea typeface="Arial"/>
                <a:cs typeface="Arial"/>
              </a:rPr>
              <a:t>Zephyr weather provenance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DCA4E-3B9C-46B9-AF7A-7884453A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71750"/>
            <a:ext cx="5000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12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4DCE8"/>
                </a:solidFill>
                <a:latin typeface="Arial"/>
                <a:ea typeface="Arial"/>
                <a:cs typeface="Arial"/>
              </a:rPr>
              <a:t>Hourly weather comes from the recorded Zephyr Station feed. The simulation includes seasonal amplitude and timing shifts without letting the hidden synthetic truth enter the model.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F00E4C-B5FA-4850-89BF-6C2471A2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005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FD1A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FD1A5"/>
                </a:solidFill>
                <a:latin typeface="Arial"/>
                <a:ea typeface="Arial"/>
                <a:cs typeface="Arial"/>
              </a:rPr>
              <a:t>Real-world adapter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3C299-82E0-4FB1-8936-624D5FA8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76750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466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4DCE8"/>
                </a:solidFill>
                <a:latin typeface="Arial"/>
                <a:ea typeface="Arial"/>
                <a:cs typeface="Arial"/>
              </a:rPr>
              <a:t>The separate Case A pathway processes 24 audited meters with the same ingestion report format and only internal metrics.</a:t>
            </a:r>
          </a:p>
        </p:txBody>
      </p:sp>
    </p:spTree>
    <p:extLst>
      <p:ext uri="{BB962C8B-B14F-4D97-AF65-F5344CB8AC3E}">
        <p14:creationId xmlns:p14="http://schemas.microsoft.com/office/powerpoint/2010/main" val="17537777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F2D8B2-17A7-4E6C-A2A1-E00364B5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3BC9DE"/>
                </a:solidFill>
                <a:latin typeface="Arial"/>
                <a:ea typeface="Arial"/>
                <a:cs typeface="Arial"/>
              </a:defRPr>
            </a:pPr>
            <a:r>
              <a:rPr sz="900" b="1" spc="1">
                <a:solidFill>
                  <a:srgbClr val="3BC9DE"/>
                </a:solidFill>
                <a:latin typeface="Arial"/>
                <a:ea typeface="Arial"/>
                <a:cs typeface="Arial"/>
              </a:rPr>
              <a:t>03 /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FA742-F21D-4B53-9E0E-DC089D07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 spc="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825" b="1" spc="0">
                <a:solidFill>
                  <a:srgbClr val="8A93A6"/>
                </a:solidFill>
                <a:latin typeface="Arial"/>
                <a:ea typeface="Arial"/>
                <a:cs typeface="Arial"/>
              </a:rPr>
              <a:t>SUNEE   / 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8B44F-1AAB-4448-91DB-D76E4865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E7F19-3C30-4528-AEF5-8FD60968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8A93A6"/>
                </a:solidFill>
                <a:latin typeface="Arial"/>
                <a:ea typeface="Arial"/>
                <a:cs typeface="Arial"/>
              </a:rPr>
              <a:t>Source: presentation/index.html slide 5; README.md methodology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4A1F1-F152-46A5-9E75-50B294B6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One deterministic path from meter to validated cluster.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81FB2-9E24-4A1D-B0F1-2B62533B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19375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ln xmlns:a="http://schemas.openxmlformats.org/drawingml/2006/main" w="19050">
            <a:solidFill>
              <a:srgbClr val="3BC9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A3206-9ABC-4462-BE38-DE431B48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0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A93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B077C-A23D-4644-A35E-D263AC90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43250"/>
            <a:ext cx="100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Generate panel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AE5AF-9819-4F46-9144-975E742F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0384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57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8A93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C36D8-C030-4DD9-93D9-E26EB871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619375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ln xmlns:a="http://schemas.openxmlformats.org/drawingml/2006/main" w="19050">
            <a:solidFill>
              <a:srgbClr val="6C8C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372BF-0488-47FB-85BB-8759B33F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800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A93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E6DD5-938B-4563-9408-DF3D54B5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143250"/>
            <a:ext cx="100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Validate + preprocess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9F41C-79A3-4198-8054-094E4D60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384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57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8A93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8B50D7-C866-419C-830E-E946A084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19375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ln xmlns:a="http://schemas.openxmlformats.org/drawingml/2006/main" w="19050">
            <a:solidFill>
              <a:srgbClr val="B085F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7BB33-7B04-44D6-88D1-6432353B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00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A93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CBD297-F4A0-423E-AA0E-81518524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43250"/>
            <a:ext cx="100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Engineer 51 features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66E66-8821-45D7-B0CB-39ACD3F1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0384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57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8A93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55B1BD-B08E-41D0-88CA-4F21CAA7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619375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ln xmlns:a="http://schemas.openxmlformats.org/drawingml/2006/main" w="19050">
            <a:solidFill>
              <a:srgbClr val="F5A52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E60F55-0B73-41EC-A9E1-85CDA93A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800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A93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E0A8A3-64FA-4233-A83F-DF33D2B1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143250"/>
            <a:ext cx="100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Standardize + PCA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60C65A-1B05-4A53-83BB-5B523285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0384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57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8A93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30DFF5-8303-458F-8503-3171611E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619375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ln xmlns:a="http://schemas.openxmlformats.org/drawingml/2006/main" w="19050">
            <a:solidFill>
              <a:srgbClr val="4FD1A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95D19D-6591-4BA7-BB42-A5B636A3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00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A93A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2544F6-9F47-4F5B-9C6F-8D9A7855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143250"/>
            <a:ext cx="100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291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Select K = 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8BC153-5246-45B1-AFD8-686882A0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384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57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8A93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B05E44-3133-46A1-BE20-3B5F05D5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19375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ln xmlns:a="http://schemas.openxmlformats.org/drawingml/2006/main" w="19050">
            <a:solidFill>
              <a:srgbClr val="3BC9D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AA8CD0-3161-42C4-8CDF-0014915F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800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A93A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477B52-D6E6-4FBD-92E5-6480357A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143250"/>
            <a:ext cx="100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Profile + explain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50B33D-2E44-4FD7-B9F5-6BD44FE7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0384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57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8A93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AFE01F-36FD-47F0-979E-AA0DC7C2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619375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ln xmlns:a="http://schemas.openxmlformats.org/drawingml/2006/main" w="19050">
            <a:solidFill>
              <a:srgbClr val="6C8C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65DD59-8676-451B-8139-4331A799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800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A93A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0A4301-0B46-45F4-80DD-B19A7801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143250"/>
            <a:ext cx="100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Validate + export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D2EC18-83EA-4709-BB5E-BEFF4437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374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D4DCE8"/>
                </a:solidFill>
                <a:latin typeface="Arial"/>
                <a:ea typeface="Arial"/>
                <a:cs typeface="Arial"/>
              </a:rPr>
              <a:t>Leakage boundary: archetype and seasonal-phase labels are removed before preprocessing. They return only for independent validation.</a:t>
            </a:r>
          </a:p>
        </p:txBody>
      </p:sp>
    </p:spTree>
    <p:extLst>
      <p:ext uri="{BB962C8B-B14F-4D97-AF65-F5344CB8AC3E}">
        <p14:creationId xmlns:p14="http://schemas.microsoft.com/office/powerpoint/2010/main" val="10702428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D068F-D599-44B1-AAA3-C881835B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3BC9DE"/>
                </a:solidFill>
                <a:latin typeface="Arial"/>
                <a:ea typeface="Arial"/>
                <a:cs typeface="Arial"/>
              </a:defRPr>
            </a:pPr>
            <a:r>
              <a:rPr sz="900" b="1" spc="1">
                <a:solidFill>
                  <a:srgbClr val="3BC9DE"/>
                </a:solidFill>
                <a:latin typeface="Arial"/>
                <a:ea typeface="Arial"/>
                <a:cs typeface="Arial"/>
              </a:rPr>
              <a:t>03 /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345AB-0761-47CD-AE57-9C665249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 spc="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825" b="1" spc="0">
                <a:solidFill>
                  <a:srgbClr val="8A93A6"/>
                </a:solidFill>
                <a:latin typeface="Arial"/>
                <a:ea typeface="Arial"/>
                <a:cs typeface="Arial"/>
              </a:rPr>
              <a:t>SUNEE   / 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38051-8335-4BEF-ADCF-3C2C208A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5C0B4-5736-4374-9B9D-0CCA9833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8A93A6"/>
                </a:solidFill>
                <a:latin typeface="Arial"/>
                <a:ea typeface="Arial"/>
                <a:cs typeface="Arial"/>
              </a:rPr>
              <a:t>Source: README.md section 5; presentation/index.html slide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46CD8-0372-4DE6-A58A-918D531C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The answer key never reaches the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D504D-3D61-448C-9F1C-D8A8F1ED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000625" cy="3238500"/>
          </a:xfrm>
          <a:prstGeom xmlns:a="http://schemas.openxmlformats.org/drawingml/2006/main" prst="roundRect">
            <a:avLst>
              <a:gd name="adj" fmla="val 2353"/>
            </a:avLst>
          </a:prstGeom>
          <a:ln xmlns:a="http://schemas.openxmlformats.org/drawingml/2006/main" w="19050">
            <a:solidFill>
              <a:srgbClr val="FF6B6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BEFAA-CB9D-4E00-B0B7-62A11FA6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Excluded before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D4092-8BEE-450B-9505-2B500E1A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24150"/>
            <a:ext cx="3381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4DCE8"/>
                </a:solidFill>
                <a:latin typeface="Arial"/>
                <a:ea typeface="Arial"/>
                <a:cs typeface="Arial"/>
              </a:rPr>
              <a:t>Hidden archetype</a:t>
            </a:r>
          </a:p>
          <a:p xmlns:a="http://schemas.openxmlformats.org/drawingml/2006/main">
            <a:pPr>
              <a:defRPr sz="1875" b="1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4DCE8"/>
                </a:solidFill>
                <a:latin typeface="Arial"/>
                <a:ea typeface="Arial"/>
                <a:cs typeface="Arial"/>
              </a:rPr>
              <a:t>Seasonal phase</a:t>
            </a:r>
          </a:p>
          <a:p xmlns:a="http://schemas.openxmlformats.org/drawingml/2006/main">
            <a:pPr>
              <a:defRPr sz="1875" b="1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4DCE8"/>
                </a:solidFill>
                <a:latin typeface="Arial"/>
                <a:ea typeface="Arial"/>
                <a:cs typeface="Arial"/>
              </a:rPr>
              <a:t>Synthetic generation details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8D63A-A91A-4068-BDBD-04DEBF69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000625" cy="3238500"/>
          </a:xfrm>
          <a:prstGeom xmlns:a="http://schemas.openxmlformats.org/drawingml/2006/main" prst="roundRect">
            <a:avLst>
              <a:gd name="adj" fmla="val 2353"/>
            </a:avLst>
          </a:prstGeom>
          <a:ln xmlns:a="http://schemas.openxmlformats.org/drawingml/2006/main" w="19050">
            <a:solidFill>
              <a:srgbClr val="4FD1A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03776-8E6D-4512-A832-31E42587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431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FD1A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FD1A5"/>
                </a:solidFill>
                <a:latin typeface="Arial"/>
                <a:ea typeface="Arial"/>
                <a:cs typeface="Arial"/>
              </a:rPr>
              <a:t>Used by the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1E8E3-828F-48FB-878D-7ACE2B16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24150"/>
            <a:ext cx="3381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4DCE8"/>
                </a:solidFill>
                <a:latin typeface="Arial"/>
                <a:ea typeface="Arial"/>
                <a:cs typeface="Arial"/>
              </a:rPr>
              <a:t>Hourly energy profiles</a:t>
            </a:r>
          </a:p>
          <a:p xmlns:a="http://schemas.openxmlformats.org/drawingml/2006/main">
            <a:pPr>
              <a:defRPr sz="1875" b="1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4DCE8"/>
                </a:solidFill>
                <a:latin typeface="Arial"/>
                <a:ea typeface="Arial"/>
                <a:cs typeface="Arial"/>
              </a:rPr>
              <a:t>Season label</a:t>
            </a:r>
          </a:p>
          <a:p xmlns:a="http://schemas.openxmlformats.org/drawingml/2006/main">
            <a:pPr>
              <a:defRPr sz="1875" b="1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4DCE8"/>
                </a:solidFill>
                <a:latin typeface="Arial"/>
                <a:ea typeface="Arial"/>
                <a:cs typeface="Arial"/>
              </a:rPr>
              <a:t>51 behavioural features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C40CF1-6439-4467-8A52-CCE0DE9B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2450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8A93A6"/>
                </a:solidFill>
                <a:latin typeface="Arial"/>
                <a:ea typeface="Arial"/>
                <a:cs typeface="Arial"/>
              </a:rPr>
              <a:t>Validation compares recovered groups with hidden archetypes only after clustering finishes.</a:t>
            </a:r>
          </a:p>
        </p:txBody>
      </p:sp>
    </p:spTree>
    <p:extLst>
      <p:ext uri="{BB962C8B-B14F-4D97-AF65-F5344CB8AC3E}">
        <p14:creationId xmlns:p14="http://schemas.microsoft.com/office/powerpoint/2010/main" val="14251123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A2D3D5-CD74-45BE-B092-1F0184B9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3BC9DE"/>
                </a:solidFill>
                <a:latin typeface="Arial"/>
                <a:ea typeface="Arial"/>
                <a:cs typeface="Arial"/>
              </a:defRPr>
            </a:pPr>
            <a:r>
              <a:rPr sz="900" b="1" spc="1">
                <a:solidFill>
                  <a:srgbClr val="3BC9DE"/>
                </a:solidFill>
                <a:latin typeface="Arial"/>
                <a:ea typeface="Arial"/>
                <a:cs typeface="Arial"/>
              </a:rPr>
              <a:t>03 /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1A09C-BCAC-4ACE-9984-156C1C87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 spc="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825" b="1" spc="0">
                <a:solidFill>
                  <a:srgbClr val="8A93A6"/>
                </a:solidFill>
                <a:latin typeface="Arial"/>
                <a:ea typeface="Arial"/>
                <a:cs typeface="Arial"/>
              </a:rPr>
              <a:t>SUNEE   /  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01EE6-B7CA-4EDB-90C4-EFD5E211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79A56-0053-485B-9F1D-774EDCB9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8A93A6"/>
                </a:solidFill>
                <a:latin typeface="Arial"/>
                <a:ea typeface="Arial"/>
                <a:cs typeface="Arial"/>
              </a:rPr>
              <a:t>Source: README.md section 6; outputs/metrics/pca_loadings.csv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F1A9F-5A6E-490A-8A33-263F00EF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51 features, not one of them is size.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B5229-AD6D-48DC-81EA-C49B46D2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857500" cy="2762250"/>
          </a:xfrm>
          <a:prstGeom xmlns:a="http://schemas.openxmlformats.org/drawingml/2006/main" prst="roundRect">
            <a:avLst>
              <a:gd name="adj" fmla="val 2759"/>
            </a:avLst>
          </a:prstGeom>
          <a:ln xmlns:a="http://schemas.openxmlformats.org/drawingml/2006/main" w="19050">
            <a:solidFill>
              <a:srgbClr val="3BC9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A5B53-63B1-4004-8E31-C6DB3429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3BC9DE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BC9DE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86765-5618-479C-B003-87120FD9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hourly shape bins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51059-A1DB-4EAA-B945-A3D8E6E3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4DCE8"/>
                </a:solidFill>
                <a:latin typeface="Arial"/>
                <a:ea typeface="Arial"/>
                <a:cs typeface="Arial"/>
              </a:rPr>
              <a:t>Daily load curve divided by its own mean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B9667-E51F-4C12-8C5D-286F77D8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09750"/>
            <a:ext cx="2857500" cy="2762250"/>
          </a:xfrm>
          <a:prstGeom xmlns:a="http://schemas.openxmlformats.org/drawingml/2006/main" prst="roundRect">
            <a:avLst>
              <a:gd name="adj" fmla="val 2759"/>
            </a:avLst>
          </a:prstGeom>
          <a:ln xmlns:a="http://schemas.openxmlformats.org/drawingml/2006/main" w="19050">
            <a:solidFill>
              <a:srgbClr val="B085F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F85DAF-6667-4DD9-BF98-F3CDEC0C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336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B085F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B085F5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58403C-D91A-4A55-958A-DD6F9AED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051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summary descriptors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B36E7-B2D6-480C-937C-9C9BE199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2900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4DCE8"/>
                </a:solidFill>
                <a:latin typeface="Arial"/>
                <a:ea typeface="Arial"/>
                <a:cs typeface="Arial"/>
              </a:rPr>
              <a:t>Timing, spikiness, weekend behaviour, dispersion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aee02a9896493d"/>
          <a:stretch xmlns:a="http://schemas.openxmlformats.org/drawingml/2006/main"/>
        </p:blipFill>
        <p:spPr>
          <a:xfrm xmlns:a="http://schemas.openxmlformats.org/drawingml/2006/main">
            <a:off x="7771924" y="1695450"/>
            <a:ext cx="3039427" cy="31432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E003F1-54AE-48ED-B1C9-7A8499F8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8A93A6"/>
                </a:solidFill>
                <a:latin typeface="Arial"/>
                <a:ea typeface="Arial"/>
                <a:cs typeface="Arial"/>
              </a:rPr>
              <a:t>Scale diagnostics remain separate from the 51 behavioural features used for clustering.</a:t>
            </a:r>
          </a:p>
        </p:txBody>
      </p:sp>
    </p:spTree>
    <p:extLst>
      <p:ext uri="{BB962C8B-B14F-4D97-AF65-F5344CB8AC3E}">
        <p14:creationId xmlns:p14="http://schemas.microsoft.com/office/powerpoint/2010/main" val="9609332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BEA0D7-B7DD-44AE-80EC-486BE917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3BC9DE"/>
                </a:solidFill>
                <a:latin typeface="Arial"/>
                <a:ea typeface="Arial"/>
                <a:cs typeface="Arial"/>
              </a:defRPr>
            </a:pPr>
            <a:r>
              <a:rPr sz="900" b="1" spc="1">
                <a:solidFill>
                  <a:srgbClr val="3BC9DE"/>
                </a:solidFill>
                <a:latin typeface="Arial"/>
                <a:ea typeface="Arial"/>
                <a:cs typeface="Arial"/>
              </a:rPr>
              <a:t>03 /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F65A7-A00C-4688-A3F5-6D9AA3B6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 spc="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825" b="1" spc="0">
                <a:solidFill>
                  <a:srgbClr val="8A93A6"/>
                </a:solidFill>
                <a:latin typeface="Arial"/>
                <a:ea typeface="Arial"/>
                <a:cs typeface="Arial"/>
              </a:rPr>
              <a:t>SUNEE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569A0-15BC-462B-8481-D2EF2D28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1D8E0-513C-4F9D-BC59-07AE7EFC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8A93A6"/>
                </a:solidFill>
                <a:latin typeface="Arial"/>
                <a:ea typeface="Arial"/>
                <a:cs typeface="Arial"/>
              </a:rPr>
              <a:t>Source: web/public/data/pca.json; dark_mode_plots/figures/component_loadings.png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21AC4-8C68-4772-9421-0AC1413F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51 correlated numbers collapse into 10 that matter.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9f53dd50d4e04"/>
          <a:stretch xmlns:a="http://schemas.openxmlformats.org/drawingml/2006/main"/>
        </p:blipFill>
        <p:spPr>
          <a:xfrm xmlns:a="http://schemas.openxmlformats.org/drawingml/2006/main">
            <a:off x="1667842" y="1600200"/>
            <a:ext cx="3960465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DC8E7-DD38-4447-B00E-CE1B58FD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4238625" cy="3429000"/>
          </a:xfrm>
          <a:prstGeom xmlns:a="http://schemas.openxmlformats.org/drawingml/2006/main" prst="roundRect">
            <a:avLst>
              <a:gd name="adj" fmla="val 2222"/>
            </a:avLst>
          </a:prstGeom>
          <a:ln xmlns:a="http://schemas.openxmlformats.org/drawingml/2006/main" w="19050">
            <a:solidFill>
              <a:srgbClr val="6C8C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32F8E-00D8-40E7-A9B6-29C68961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95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25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BC9D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BC9DE"/>
                </a:solidFill>
                <a:latin typeface="Arial"/>
                <a:ea typeface="Arial"/>
                <a:cs typeface="Arial"/>
              </a:rPr>
              <a:t>What the first components 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C3948-06F7-428C-92FC-1A02B81A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14625"/>
            <a:ext cx="3381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4DCE8"/>
                </a:solidFill>
                <a:latin typeface="Arial"/>
                <a:ea typeface="Arial"/>
                <a:cs typeface="Arial"/>
              </a:rPr>
              <a:t>PC1  Peak concentration and ramp</a:t>
            </a:r>
          </a:p>
          <a:p xmlns:a="http://schemas.openxmlformats.org/drawingml/2006/main">
            <a:pPr>
              <a:defRPr sz="1425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4DCE8"/>
                </a:solidFill>
                <a:latin typeface="Arial"/>
                <a:ea typeface="Arial"/>
                <a:cs typeface="Arial"/>
              </a:rPr>
              <a:t>PC2  Night versus afternoon use</a:t>
            </a:r>
          </a:p>
          <a:p xmlns:a="http://schemas.openxmlformats.org/drawingml/2006/main">
            <a:pPr>
              <a:defRPr sz="1425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4DCE8"/>
                </a:solidFill>
                <a:latin typeface="Arial"/>
                <a:ea typeface="Arial"/>
                <a:cs typeface="Arial"/>
              </a:rPr>
              <a:t>PC3  Morning shape</a:t>
            </a:r>
          </a:p>
          <a:p xmlns:a="http://schemas.openxmlformats.org/drawingml/2006/main">
            <a:pPr>
              <a:defRPr sz="1425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4DCE8"/>
                </a:solidFill>
                <a:latin typeface="Arial"/>
                <a:ea typeface="Arial"/>
                <a:cs typeface="Arial"/>
              </a:rPr>
              <a:t>PC4  Evening timing</a:t>
            </a:r>
          </a:p>
          <a:p xmlns:a="http://schemas.openxmlformats.org/drawingml/2006/main">
            <a:pPr>
              <a:defRPr sz="1425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4DCE8"/>
                </a:solidFill>
                <a:latin typeface="Arial"/>
                <a:ea typeface="Arial"/>
                <a:cs typeface="Arial"/>
              </a:rPr>
              <a:t>PC5  Weekend and fine-scale variation</a:t>
            </a:r>
          </a:p>
        </p:txBody>
      </p:sp>
    </p:spTree>
    <p:extLst>
      <p:ext uri="{BB962C8B-B14F-4D97-AF65-F5344CB8AC3E}">
        <p14:creationId xmlns:p14="http://schemas.microsoft.com/office/powerpoint/2010/main" val="6601429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F7354-5790-48C9-8C2A-8DF304BD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3BC9DE"/>
                </a:solidFill>
                <a:latin typeface="Arial"/>
                <a:ea typeface="Arial"/>
                <a:cs typeface="Arial"/>
              </a:defRPr>
            </a:pPr>
            <a:r>
              <a:rPr sz="900" b="1" spc="1">
                <a:solidFill>
                  <a:srgbClr val="3BC9DE"/>
                </a:solidFill>
                <a:latin typeface="Arial"/>
                <a:ea typeface="Arial"/>
                <a:cs typeface="Arial"/>
              </a:rPr>
              <a:t>03 /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99116-4787-47D3-8800-E3E203B6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 spc="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825" b="1" spc="0">
                <a:solidFill>
                  <a:srgbClr val="8A93A6"/>
                </a:solidFill>
                <a:latin typeface="Arial"/>
                <a:ea typeface="Arial"/>
                <a:cs typeface="Arial"/>
              </a:rPr>
              <a:t>SUNEE   /  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B72E1-B538-4365-A0A9-93852ADB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2536D-B3C2-4475-8558-E096BAF3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8A93A6"/>
                </a:solidFill>
                <a:latin typeface="Arial"/>
                <a:ea typeface="Arial"/>
                <a:cs typeface="Arial"/>
              </a:rPr>
              <a:t>Source: web/public/data/pca.json; dark_mode_plots/figures/explained_variance.png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4AC10-EC1C-41F5-943E-FAE1E7A5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10 components hold 95.05 percent of the variance.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e887fead34716"/>
          <a:stretch xmlns:a="http://schemas.openxmlformats.org/drawingml/2006/main"/>
        </p:blipFill>
        <p:spPr>
          <a:xfrm xmlns:a="http://schemas.openxmlformats.org/drawingml/2006/main">
            <a:off x="666750" y="2272320"/>
            <a:ext cx="6762750" cy="255148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B5349-2414-4F03-B59F-89EFB221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3095625" cy="2762250"/>
          </a:xfrm>
          <a:prstGeom xmlns:a="http://schemas.openxmlformats.org/drawingml/2006/main" prst="roundRect">
            <a:avLst>
              <a:gd name="adj" fmla="val 2759"/>
            </a:avLst>
          </a:prstGeom>
          <a:ln xmlns:a="http://schemas.openxmlformats.org/drawingml/2006/main" w="19050">
            <a:solidFill>
              <a:srgbClr val="4FD1A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93E22-FAF9-4DCD-B034-BDAF2EFB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FD1A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4FD1A5"/>
                </a:solidFill>
                <a:latin typeface="Arial"/>
                <a:ea typeface="Arial"/>
                <a:cs typeface="Arial"/>
              </a:rPr>
              <a:t>95.05%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84A66-68B0-4B7D-8352-B1500D54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90875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4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variance retained</a:t>
            </a:r>
          </a:p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with 10 PCA components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B85B5A-CA64-4B18-88E7-E07946FD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00625"/>
            <a:ext cx="2905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81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8A93A6"/>
                </a:solidFill>
                <a:latin typeface="Arial"/>
                <a:ea typeface="Arial"/>
                <a:cs typeface="Arial"/>
              </a:rPr>
              <a:t>Kaiser and scree comparisons both indicate 7 components, but the variance threshold drives the pipeline.</a:t>
            </a:r>
          </a:p>
        </p:txBody>
      </p:sp>
    </p:spTree>
    <p:extLst>
      <p:ext uri="{BB962C8B-B14F-4D97-AF65-F5344CB8AC3E}">
        <p14:creationId xmlns:p14="http://schemas.microsoft.com/office/powerpoint/2010/main" val="6000925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C454E-649E-4B4A-9D44-F56A0D15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3BC9DE"/>
                </a:solidFill>
                <a:latin typeface="Arial"/>
                <a:ea typeface="Arial"/>
                <a:cs typeface="Arial"/>
              </a:defRPr>
            </a:pPr>
            <a:r>
              <a:rPr sz="900" b="1" spc="1">
                <a:solidFill>
                  <a:srgbClr val="3BC9DE"/>
                </a:solidFill>
                <a:latin typeface="Arial"/>
                <a:ea typeface="Arial"/>
                <a:cs typeface="Arial"/>
              </a:rPr>
              <a:t>03 /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84231-4E93-418E-B6CB-1C0FA35E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 spc="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825" b="1" spc="0">
                <a:solidFill>
                  <a:srgbClr val="8A93A6"/>
                </a:solidFill>
                <a:latin typeface="Arial"/>
                <a:ea typeface="Arial"/>
                <a:cs typeface="Arial"/>
              </a:rPr>
              <a:t>SUNEE   /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2E990-3FAF-4DA0-A31A-74B12E04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7BFD0-CB2D-47C3-BC30-F52B12F5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8A93A6"/>
                </a:solidFill>
                <a:latin typeface="Arial"/>
                <a:ea typeface="Arial"/>
                <a:cs typeface="Arial"/>
              </a:rPr>
              <a:t>Source: web/public/data/clustering.json; dark_mode_plots/figures/k_selection_metrics.png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3046A-4F0E-4858-B116-31EDCFDD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K is picked by a rule fixed in advance, not by eye.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7b8ce2eeb42fe"/>
          <a:stretch xmlns:a="http://schemas.openxmlformats.org/drawingml/2006/main"/>
        </p:blipFill>
        <p:spPr>
          <a:xfrm xmlns:a="http://schemas.openxmlformats.org/drawingml/2006/main">
            <a:off x="598766" y="1619250"/>
            <a:ext cx="6041468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65872-3D46-4531-B928-146B4F32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09750"/>
            <a:ext cx="4095750" cy="3429000"/>
          </a:xfrm>
          <a:prstGeom xmlns:a="http://schemas.openxmlformats.org/drawingml/2006/main" prst="roundRect">
            <a:avLst>
              <a:gd name="adj" fmla="val 2222"/>
            </a:avLst>
          </a:prstGeom>
          <a:ln xmlns:a="http://schemas.openxmlformats.org/drawingml/2006/main" w="19050">
            <a:solidFill>
              <a:srgbClr val="F5A52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ACAB3-196A-45EA-AB91-AAA2BEBB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95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A5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A524"/>
                </a:solidFill>
                <a:latin typeface="Arial"/>
                <a:ea typeface="Arial"/>
                <a:cs typeface="Arial"/>
              </a:rPr>
              <a:t>Composite selection rule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EC457-05D4-4F1D-BE7D-E7D863A6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6700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19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4DCE8"/>
                </a:solidFill>
                <a:latin typeface="Arial"/>
                <a:ea typeface="Arial"/>
                <a:cs typeface="Arial"/>
              </a:rPr>
              <a:t>1. Score silhouette, Calinski–Harabasz, and inverted Davies–Bouldin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4DCE8"/>
                </a:solidFill>
                <a:latin typeface="Arial"/>
                <a:ea typeface="Arial"/>
                <a:cs typeface="Arial"/>
              </a:rPr>
              <a:t>2. Average normalized scores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4DCE8"/>
                </a:solidFill>
                <a:latin typeface="Arial"/>
                <a:ea typeface="Arial"/>
                <a:cs typeface="Arial"/>
              </a:rPr>
              <a:t>3. Apply a 5% parsimony tolerance band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4DCE8"/>
                </a:solidFill>
                <a:latin typeface="Arial"/>
                <a:ea typeface="Arial"/>
                <a:cs typeface="Arial"/>
              </a:rPr>
              <a:t>4. Select the smallest eligible K</a:t>
            </a:r>
          </a:p>
        </p:txBody>
      </p:sp>
    </p:spTree>
    <p:extLst>
      <p:ext uri="{BB962C8B-B14F-4D97-AF65-F5344CB8AC3E}">
        <p14:creationId xmlns:p14="http://schemas.microsoft.com/office/powerpoint/2010/main" val="17206729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1FCCB7-057A-4C81-9FD1-D09DA431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3BC9DE"/>
                </a:solidFill>
                <a:latin typeface="Arial"/>
                <a:ea typeface="Arial"/>
                <a:cs typeface="Arial"/>
              </a:defRPr>
            </a:pPr>
            <a:r>
              <a:rPr sz="900" b="1" spc="1">
                <a:solidFill>
                  <a:srgbClr val="3BC9DE"/>
                </a:solidFill>
                <a:latin typeface="Arial"/>
                <a:ea typeface="Arial"/>
                <a:cs typeface="Arial"/>
              </a:rPr>
              <a:t>03 /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FEE92-8464-4EF8-8516-13F701BE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 spc="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825" b="1" spc="0">
                <a:solidFill>
                  <a:srgbClr val="8A93A6"/>
                </a:solidFill>
                <a:latin typeface="Arial"/>
                <a:ea typeface="Arial"/>
                <a:cs typeface="Arial"/>
              </a:rPr>
              <a:t>SUNEE   /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0C5DC-4816-4F07-8BF3-4EE35039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9238F-E218-4F76-ACDD-86AB95C1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8A93A6"/>
                </a:solidFill>
                <a:latin typeface="Arial"/>
                <a:ea typeface="Arial"/>
                <a:cs typeface="Arial"/>
              </a:rPr>
              <a:t>Source: web/public/data/clustering.json; dark_mode_plots/figures/silhouette_scores.png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62658-8931-479A-8C94-9EB23730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Silhouette peaks at K = 5; the rule says K = 4.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8dccbcc28427a"/>
          <a:stretch xmlns:a="http://schemas.openxmlformats.org/drawingml/2006/main"/>
        </p:blipFill>
        <p:spPr>
          <a:xfrm xmlns:a="http://schemas.openxmlformats.org/drawingml/2006/main">
            <a:off x="705636" y="1647825"/>
            <a:ext cx="6170629" cy="3810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51057-B274-42CB-8B23-B48224FA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333750" cy="2619375"/>
          </a:xfrm>
          <a:prstGeom xmlns:a="http://schemas.openxmlformats.org/drawingml/2006/main" prst="roundRect">
            <a:avLst>
              <a:gd name="adj" fmla="val 2909"/>
            </a:avLst>
          </a:prstGeom>
          <a:ln xmlns:a="http://schemas.openxmlformats.org/drawingml/2006/main" w="19050">
            <a:solidFill>
              <a:srgbClr val="4FD1A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FD3EA-6F73-4330-8BAC-E0DBCF45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7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FD1A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4FD1A5"/>
                </a:solidFill>
                <a:latin typeface="Arial"/>
                <a:ea typeface="Arial"/>
                <a:cs typeface="Arial"/>
              </a:rPr>
              <a:t>K =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A5E05-4612-4AB9-8290-58B68197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9087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18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4DCE8"/>
                </a:solidFill>
                <a:latin typeface="Arial"/>
                <a:ea typeface="Arial"/>
                <a:cs typeface="Arial"/>
              </a:rPr>
              <a:t>selected by the composite rule</a:t>
            </a:r>
          </a:p>
          <a:p xmlns:a="http://schemas.openxmlformats.org/drawingml/2006/main">
            <a:pPr algn="ctr">
              <a:defRPr sz="1425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4DCE8"/>
                </a:solidFill>
                <a:latin typeface="Arial"/>
                <a:ea typeface="Arial"/>
                <a:cs typeface="Arial"/>
              </a:rPr>
              <a:t>Silhouette: 0.3283</a:t>
            </a:r>
          </a:p>
          <a:p xmlns:a="http://schemas.openxmlformats.org/drawingml/2006/main">
            <a:pPr algn="ctr">
              <a:defRPr sz="1425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4DCE8"/>
                </a:solidFill>
                <a:latin typeface="Arial"/>
                <a:ea typeface="Arial"/>
                <a:cs typeface="Arial"/>
              </a:rPr>
              <a:t>Stability ARI: 0.9947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94836-D675-4429-8076-724C2804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006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8A93A6"/>
                </a:solidFill>
                <a:latin typeface="Arial"/>
                <a:ea typeface="Arial"/>
                <a:cs typeface="Arial"/>
              </a:rPr>
              <a:t>K = 5 achieves the highest standalone silhouette (0.3352) but loses the broader evidence test.</a:t>
            </a:r>
          </a:p>
        </p:txBody>
      </p:sp>
    </p:spTree>
    <p:extLst>
      <p:ext uri="{BB962C8B-B14F-4D97-AF65-F5344CB8AC3E}">
        <p14:creationId xmlns:p14="http://schemas.microsoft.com/office/powerpoint/2010/main" val="73322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499C96-7F74-4236-95D2-C1DE1CE0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3BC9DE"/>
                </a:solidFill>
                <a:latin typeface="Arial"/>
                <a:ea typeface="Arial"/>
                <a:cs typeface="Arial"/>
              </a:defRPr>
            </a:pPr>
            <a:r>
              <a:rPr sz="900" b="1" spc="1">
                <a:solidFill>
                  <a:srgbClr val="3BC9DE"/>
                </a:solidFill>
                <a:latin typeface="Arial"/>
                <a:ea typeface="Arial"/>
                <a:cs typeface="Arial"/>
              </a:rPr>
              <a:t>04 /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0C8A7-2BDB-4BA9-B629-730AB151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 spc="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825" b="1" spc="0">
                <a:solidFill>
                  <a:srgbClr val="8A93A6"/>
                </a:solidFill>
                <a:latin typeface="Arial"/>
                <a:ea typeface="Arial"/>
                <a:cs typeface="Arial"/>
              </a:rPr>
              <a:t>SUNEE   /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ADDA4-5E94-4189-8709-C1A754FA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36663-45B8-47B5-A5C7-0E434FDD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8A93A6"/>
                </a:solidFill>
                <a:latin typeface="Arial"/>
                <a:ea typeface="Arial"/>
                <a:cs typeface="Arial"/>
              </a:rPr>
              <a:t>Source: web/public/data/profiles.json; dark_mode_plots/figures/hourly_patterns.png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F7160-1FF1-4B8E-9EDB-90431D5E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Four rhythms of a day.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4f5d75357421c"/>
          <a:stretch xmlns:a="http://schemas.openxmlformats.org/drawingml/2006/main"/>
        </p:blipFill>
        <p:spPr>
          <a:xfrm xmlns:a="http://schemas.openxmlformats.org/drawingml/2006/main">
            <a:off x="523875" y="1699493"/>
            <a:ext cx="7000875" cy="384001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F046E-9C4A-4207-A544-8B311B4E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333750" cy="3429000"/>
          </a:xfrm>
          <a:prstGeom xmlns:a="http://schemas.openxmlformats.org/drawingml/2006/main" prst="roundRect">
            <a:avLst>
              <a:gd name="adj" fmla="val 2286"/>
            </a:avLst>
          </a:prstGeom>
          <a:ln xmlns:a="http://schemas.openxmlformats.org/drawingml/2006/main" w="19050">
            <a:solidFill>
              <a:srgbClr val="3BC9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E7B64-F286-4ACF-84A2-B9917DE7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BC9D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BC9DE"/>
                </a:solidFill>
                <a:latin typeface="Arial"/>
                <a:ea typeface="Arial"/>
                <a:cs typeface="Arial"/>
              </a:rPr>
              <a:t>Recovered profiles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1E6FB-1BE7-4099-82FA-42F917D9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6225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5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0  Midday</a:t>
            </a:r>
          </a:p>
          <a:p xmlns:a="http://schemas.openxmlformats.org/drawingml/2006/main">
            <a:pPr>
              <a:defRPr sz="18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1  Flat</a:t>
            </a:r>
          </a:p>
          <a:p xmlns:a="http://schemas.openxmlformats.org/drawingml/2006/main">
            <a:pPr>
              <a:defRPr sz="18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2  Evening</a:t>
            </a:r>
          </a:p>
          <a:p xmlns:a="http://schemas.openxmlformats.org/drawingml/2006/main">
            <a:pPr>
              <a:defRPr sz="18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3  Evening + weekend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5D0098-CD01-48C0-9108-9D7376D9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76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8A93A6"/>
                </a:solidFill>
                <a:latin typeface="Arial"/>
                <a:ea typeface="Arial"/>
                <a:cs typeface="Arial"/>
              </a:rPr>
              <a:t>Cluster sizes: 39, 52, 47, and 62 consumers</a:t>
            </a:r>
          </a:p>
        </p:txBody>
      </p:sp>
    </p:spTree>
    <p:extLst>
      <p:ext uri="{BB962C8B-B14F-4D97-AF65-F5344CB8AC3E}">
        <p14:creationId xmlns:p14="http://schemas.microsoft.com/office/powerpoint/2010/main" val="14499659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8FF0D-D391-4B95-A506-53E9DCE9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3BC9DE"/>
                </a:solidFill>
                <a:latin typeface="Arial"/>
                <a:ea typeface="Arial"/>
                <a:cs typeface="Arial"/>
              </a:defRPr>
            </a:pPr>
            <a:r>
              <a:rPr sz="900" b="1" spc="1">
                <a:solidFill>
                  <a:srgbClr val="3BC9DE"/>
                </a:solidFill>
                <a:latin typeface="Arial"/>
                <a:ea typeface="Arial"/>
                <a:cs typeface="Arial"/>
              </a:rPr>
              <a:t>04 /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7B522-0FFE-4195-9969-57602E78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 spc="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825" b="1" spc="0">
                <a:solidFill>
                  <a:srgbClr val="8A93A6"/>
                </a:solidFill>
                <a:latin typeface="Arial"/>
                <a:ea typeface="Arial"/>
                <a:cs typeface="Arial"/>
              </a:rPr>
              <a:t>SUNEE   /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38766-76C3-4F23-A71E-29E1DC0A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8F100-8DF1-4F6D-84F1-18CCC98C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8A93A6"/>
                </a:solidFill>
                <a:latin typeface="Arial"/>
                <a:ea typeface="Arial"/>
                <a:cs typeface="Arial"/>
              </a:rPr>
              <a:t>Source: web/public/data/validation.json; dark_mode_plots/figures/archetype_recovery.png and archetype_crosstab.png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C2D49-9E13-4B4A-A627-B7C036ED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Recovery peaks exactly where the rule landed.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98787837ba4791"/>
          <a:stretch xmlns:a="http://schemas.openxmlformats.org/drawingml/2006/main"/>
        </p:blipFill>
        <p:spPr>
          <a:xfrm xmlns:a="http://schemas.openxmlformats.org/drawingml/2006/main">
            <a:off x="523875" y="1768525"/>
            <a:ext cx="5334000" cy="32257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ca55ee88284ef8"/>
          <a:stretch xmlns:a="http://schemas.openxmlformats.org/drawingml/2006/main"/>
        </p:blipFill>
        <p:spPr>
          <a:xfrm xmlns:a="http://schemas.openxmlformats.org/drawingml/2006/main">
            <a:off x="6000750" y="1846733"/>
            <a:ext cx="5334000" cy="306928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6FC27-566C-468C-84CE-E237BB2B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FD1A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D1A5"/>
                </a:solidFill>
                <a:latin typeface="Arial"/>
                <a:ea typeface="Arial"/>
                <a:cs typeface="Arial"/>
              </a:rPr>
              <a:t>At K = 4: ARI 0.813 and NMI 0.833. The independent recovery check agrees with the fixed selection rule.</a:t>
            </a:r>
          </a:p>
        </p:txBody>
      </p:sp>
    </p:spTree>
    <p:extLst>
      <p:ext uri="{BB962C8B-B14F-4D97-AF65-F5344CB8AC3E}">
        <p14:creationId xmlns:p14="http://schemas.microsoft.com/office/powerpoint/2010/main" val="9844482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DFFA7-5231-4DDB-82CA-D148879D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3BC9DE"/>
                </a:solidFill>
                <a:latin typeface="Arial"/>
                <a:ea typeface="Arial"/>
                <a:cs typeface="Arial"/>
              </a:defRPr>
            </a:pPr>
            <a:r>
              <a:rPr sz="900" b="1" spc="1">
                <a:solidFill>
                  <a:srgbClr val="3BC9DE"/>
                </a:solidFill>
                <a:latin typeface="Arial"/>
                <a:ea typeface="Arial"/>
                <a:cs typeface="Arial"/>
              </a:rPr>
              <a:t>04 /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51A03-B6E4-433F-B44F-42EF1854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 spc="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825" b="1" spc="0">
                <a:solidFill>
                  <a:srgbClr val="8A93A6"/>
                </a:solidFill>
                <a:latin typeface="Arial"/>
                <a:ea typeface="Arial"/>
                <a:cs typeface="Arial"/>
              </a:rPr>
              <a:t>SUNEE   /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89DD5-910D-4F66-896E-D18FF131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26B10-2E9E-451C-8D17-EC750C9A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8A93A6"/>
                </a:solidFill>
                <a:latin typeface="Arial"/>
                <a:ea typeface="Arial"/>
                <a:cs typeface="Arial"/>
              </a:rPr>
              <a:t>Source: web/public/data/explainability.json; dark_mode_plots/figures/shap_cluster_importance.png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3F3D6-32BB-470A-8C5C-9ED3F783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SHAP says which hours separate the groups.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c02aae9ff4a57"/>
          <a:stretch xmlns:a="http://schemas.openxmlformats.org/drawingml/2006/main"/>
        </p:blipFill>
        <p:spPr>
          <a:xfrm xmlns:a="http://schemas.openxmlformats.org/drawingml/2006/main">
            <a:off x="523875" y="2536312"/>
            <a:ext cx="6572250" cy="20711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C5E15-BCB0-4362-A73D-92A153B4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981200"/>
            <a:ext cx="3333750" cy="2714625"/>
          </a:xfrm>
          <a:prstGeom xmlns:a="http://schemas.openxmlformats.org/drawingml/2006/main" prst="roundRect">
            <a:avLst>
              <a:gd name="adj" fmla="val 2807"/>
            </a:avLst>
          </a:prstGeom>
          <a:ln xmlns:a="http://schemas.openxmlformats.org/drawingml/2006/main" w="19050">
            <a:solidFill>
              <a:srgbClr val="B085F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44839-46C3-4A06-BA14-3EDEECA1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50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08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085F5"/>
                </a:solidFill>
                <a:latin typeface="Arial"/>
                <a:ea typeface="Arial"/>
                <a:cs typeface="Arial"/>
              </a:rPr>
              <a:t>Post-hoc explanation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D634C-5430-4EF4-935B-5FE0082C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527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42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4DCE8"/>
                </a:solidFill>
                <a:latin typeface="Arial"/>
                <a:ea typeface="Arial"/>
                <a:cs typeface="Arial"/>
              </a:rPr>
              <a:t>A 98.5% surrogate predicts the cluster labels. SHAP ranks the features that best reproduce the partition, without claiming causality.</a:t>
            </a:r>
          </a:p>
        </p:txBody>
      </p:sp>
    </p:spTree>
    <p:extLst>
      <p:ext uri="{BB962C8B-B14F-4D97-AF65-F5344CB8AC3E}">
        <p14:creationId xmlns:p14="http://schemas.microsoft.com/office/powerpoint/2010/main" val="8727960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01FE4-0C2D-45BA-B1C3-5C44BFAF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3BC9DE"/>
                </a:solidFill>
                <a:latin typeface="Arial"/>
                <a:ea typeface="Arial"/>
                <a:cs typeface="Arial"/>
              </a:defRPr>
            </a:pPr>
            <a:r>
              <a:rPr sz="900" b="1" spc="1">
                <a:solidFill>
                  <a:srgbClr val="3BC9DE"/>
                </a:solidFill>
                <a:latin typeface="Arial"/>
                <a:ea typeface="Arial"/>
                <a:cs typeface="Arial"/>
              </a:rPr>
              <a:t>04 /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D9E94-DBA5-4E2C-A18E-EC0AFB09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 spc="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825" b="1" spc="0">
                <a:solidFill>
                  <a:srgbClr val="8A93A6"/>
                </a:solidFill>
                <a:latin typeface="Arial"/>
                <a:ea typeface="Arial"/>
                <a:cs typeface="Arial"/>
              </a:rPr>
              <a:t>SUNEE   /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1FDE2-5086-4B0F-942A-3684855B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1CFE9-A54A-4DEA-B621-7B683E98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8A93A6"/>
                </a:solidFill>
                <a:latin typeface="Arial"/>
                <a:ea typeface="Arial"/>
                <a:cs typeface="Arial"/>
              </a:rPr>
              <a:t>Source: web/public/data/seasonal.json; dark_mode_plots seasonal figures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10DE0-861F-4D47-90B8-EDDCCE0C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225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25 percent seasonal swing, the same four groups underneath.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73a3907134b10"/>
          <a:stretch xmlns:a="http://schemas.openxmlformats.org/drawingml/2006/main"/>
        </p:blipFill>
        <p:spPr>
          <a:xfrm xmlns:a="http://schemas.openxmlformats.org/drawingml/2006/main">
            <a:off x="523875" y="1736310"/>
            <a:ext cx="5334000" cy="3290131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a927d77e784257"/>
          <a:stretch xmlns:a="http://schemas.openxmlformats.org/drawingml/2006/main"/>
        </p:blipFill>
        <p:spPr>
          <a:xfrm xmlns:a="http://schemas.openxmlformats.org/drawingml/2006/main">
            <a:off x="6096000" y="2307007"/>
            <a:ext cx="5334000" cy="214873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D0F08-15AE-41CB-8EF6-A573B043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4DCE8"/>
                </a:solidFill>
                <a:latin typeface="Arial"/>
                <a:ea typeface="Arial"/>
                <a:cs typeface="Arial"/>
              </a:rPr>
              <a:t>Seasonality changes energy magnitude and timing, while the recovered shape groups remain visible across the year.</a:t>
            </a:r>
          </a:p>
        </p:txBody>
      </p:sp>
    </p:spTree>
    <p:extLst>
      <p:ext uri="{BB962C8B-B14F-4D97-AF65-F5344CB8AC3E}">
        <p14:creationId xmlns:p14="http://schemas.microsoft.com/office/powerpoint/2010/main" val="20854914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BB803-9172-4CBA-9742-E30E7F09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3BC9DE"/>
                </a:solidFill>
                <a:latin typeface="Arial"/>
                <a:ea typeface="Arial"/>
                <a:cs typeface="Arial"/>
              </a:defRPr>
            </a:pPr>
            <a:r>
              <a:rPr sz="900" b="1" spc="1">
                <a:solidFill>
                  <a:srgbClr val="3BC9DE"/>
                </a:solidFill>
                <a:latin typeface="Arial"/>
                <a:ea typeface="Arial"/>
                <a:cs typeface="Arial"/>
              </a:rPr>
              <a:t>04 /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16E21-DAB0-41D5-A1CB-14ED6F8D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 spc="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825" b="1" spc="0">
                <a:solidFill>
                  <a:srgbClr val="8A93A6"/>
                </a:solidFill>
                <a:latin typeface="Arial"/>
                <a:ea typeface="Arial"/>
                <a:cs typeface="Arial"/>
              </a:rPr>
              <a:t>SUNEE   /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83629-D02B-4466-BFA2-C9B23556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3A46C-CB36-49F0-97EF-AF9850DA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8A93A6"/>
                </a:solidFill>
                <a:latin typeface="Arial"/>
                <a:ea typeface="Arial"/>
                <a:cs typeface="Arial"/>
              </a:rPr>
              <a:t>Source: web/public/data/longitudinal.json; dark_mode_plots/figures/longitudinal_cluster_stability.png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81909-6D0F-469C-9FDD-67099409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Mean agreement 0.88 across four quarters.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75964ec284020"/>
          <a:stretch xmlns:a="http://schemas.openxmlformats.org/drawingml/2006/main"/>
        </p:blipFill>
        <p:spPr>
          <a:xfrm xmlns:a="http://schemas.openxmlformats.org/drawingml/2006/main">
            <a:off x="619125" y="2289995"/>
            <a:ext cx="6572250" cy="261138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BFD1B-6E55-4097-9AFD-75D7D308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3000375" cy="2619375"/>
          </a:xfrm>
          <a:prstGeom xmlns:a="http://schemas.openxmlformats.org/drawingml/2006/main" prst="roundRect">
            <a:avLst>
              <a:gd name="adj" fmla="val 2909"/>
            </a:avLst>
          </a:prstGeom>
          <a:ln xmlns:a="http://schemas.openxmlformats.org/drawingml/2006/main" w="19050">
            <a:solidFill>
              <a:srgbClr val="4FD1A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8C97B-38B1-45FF-8D9E-E434A05B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33625"/>
            <a:ext cx="233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27"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4FD1A5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4FD1A5"/>
                </a:solidFill>
                <a:latin typeface="Arial"/>
                <a:ea typeface="Arial"/>
                <a:cs typeface="Arial"/>
              </a:rPr>
              <a:t>0.882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8BC33-3C82-47FF-AECB-86C2114A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90875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413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mean quarterly ARI</a:t>
            </a:r>
          </a:p>
          <a:p xmlns:a="http://schemas.openxmlformats.org/drawingml/2006/main">
            <a:pPr algn="ctr"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versus the full-year partition</a:t>
            </a:r>
          </a:p>
        </p:txBody>
      </p:sp>
    </p:spTree>
    <p:extLst>
      <p:ext uri="{BB962C8B-B14F-4D97-AF65-F5344CB8AC3E}">
        <p14:creationId xmlns:p14="http://schemas.microsoft.com/office/powerpoint/2010/main" val="14895966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79DA21-D833-4938-A46F-3C6E697D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3BC9DE"/>
                </a:solidFill>
                <a:latin typeface="Arial"/>
                <a:ea typeface="Arial"/>
                <a:cs typeface="Arial"/>
              </a:defRPr>
            </a:pPr>
            <a:r>
              <a:rPr sz="900" b="1" spc="1">
                <a:solidFill>
                  <a:srgbClr val="3BC9DE"/>
                </a:solidFill>
                <a:latin typeface="Arial"/>
                <a:ea typeface="Arial"/>
                <a:cs typeface="Arial"/>
              </a:rPr>
              <a:t>04 /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F89E8-46BC-44A4-AAAE-6B811B47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 spc="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825" b="1" spc="0">
                <a:solidFill>
                  <a:srgbClr val="8A93A6"/>
                </a:solidFill>
                <a:latin typeface="Arial"/>
                <a:ea typeface="Arial"/>
                <a:cs typeface="Arial"/>
              </a:rPr>
              <a:t>SUNEE   /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1E3A2-4357-4DDA-9A68-97199093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E0F37-E66E-457E-9817-1D50972A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8A93A6"/>
                </a:solidFill>
                <a:latin typeface="Arial"/>
                <a:ea typeface="Arial"/>
                <a:cs typeface="Arial"/>
              </a:rPr>
              <a:t>Source: README.md section 22.5; presentation/index.html slide 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6F1DC-05AE-429D-B482-24CE8C1C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25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Five UN Sustainable Development Goals, ranked by directness.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120F4-E771-44CE-AC7F-8F8D4C51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10382250" cy="552450"/>
          </a:xfrm>
          <a:prstGeom xmlns:a="http://schemas.openxmlformats.org/drawingml/2006/main" prst="roundRect">
            <a:avLst>
              <a:gd name="adj" fmla="val 13793"/>
            </a:avLst>
          </a:prstGeom>
          <a:ln xmlns:a="http://schemas.openxmlformats.org/drawingml/2006/main" w="19050">
            <a:solidFill>
              <a:srgbClr val="4FD1A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5267A-016C-4E0D-83E7-4439631B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573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FD1A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D1A5"/>
                </a:solidFill>
                <a:latin typeface="Arial"/>
                <a:ea typeface="Arial"/>
                <a:cs typeface="Arial"/>
              </a:rPr>
              <a:t>SDG 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31298-9753-4CF3-AB42-9D150EC1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573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Affordable and Clean Energy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B214A-726E-438C-9B20-2C4244E6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573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4DCE8"/>
                </a:solidFill>
                <a:latin typeface="Arial"/>
                <a:ea typeface="Arial"/>
                <a:cs typeface="Arial"/>
              </a:rPr>
              <a:t>Primary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95ABB-A586-4965-8285-22BC3A93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47925"/>
            <a:ext cx="10382250" cy="552450"/>
          </a:xfrm>
          <a:prstGeom xmlns:a="http://schemas.openxmlformats.org/drawingml/2006/main" prst="roundRect">
            <a:avLst>
              <a:gd name="adj" fmla="val 13793"/>
            </a:avLst>
          </a:prstGeom>
          <a:ln xmlns:a="http://schemas.openxmlformats.org/drawingml/2006/main" w="19050">
            <a:solidFill>
              <a:srgbClr val="3BC9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2C0CFC-AE8C-4AF5-AF69-C72EF559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BC9D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BC9DE"/>
                </a:solidFill>
                <a:latin typeface="Arial"/>
                <a:ea typeface="Arial"/>
                <a:cs typeface="Arial"/>
              </a:rPr>
              <a:t>SDG 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0F272-E961-4ABB-94D7-F4CE4188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908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Industry and Innovation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B87BAF-6A5F-4D2B-AFD1-CB72EEBD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908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4DCE8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60C5F5-6FFF-4C8C-A161-3B2B9D5F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81350"/>
            <a:ext cx="10382250" cy="552450"/>
          </a:xfrm>
          <a:prstGeom xmlns:a="http://schemas.openxmlformats.org/drawingml/2006/main" prst="roundRect">
            <a:avLst>
              <a:gd name="adj" fmla="val 13793"/>
            </a:avLst>
          </a:prstGeom>
          <a:ln xmlns:a="http://schemas.openxmlformats.org/drawingml/2006/main" w="19050">
            <a:solidFill>
              <a:srgbClr val="6C8C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54B924-CFDF-42CE-8E47-0AC8B8D6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242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C8C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SDG 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5782DA-781A-4B6B-860E-3B3A1AC7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2422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Responsible Consumption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F8730E-AD18-4177-8476-89AAC3F1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242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4DCE8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A2F80F-32E1-426E-BC2B-412DE0D1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14775"/>
            <a:ext cx="10382250" cy="552450"/>
          </a:xfrm>
          <a:prstGeom xmlns:a="http://schemas.openxmlformats.org/drawingml/2006/main" prst="roundRect">
            <a:avLst>
              <a:gd name="adj" fmla="val 13793"/>
            </a:avLst>
          </a:prstGeom>
          <a:ln xmlns:a="http://schemas.openxmlformats.org/drawingml/2006/main" w="19050">
            <a:solidFill>
              <a:srgbClr val="B085F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3B5CF3-911F-42F0-B5C6-3BEA214C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085F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085F5"/>
                </a:solidFill>
                <a:latin typeface="Arial"/>
                <a:ea typeface="Arial"/>
                <a:cs typeface="Arial"/>
              </a:rPr>
              <a:t>SDG 11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E16631-0D8B-4384-950D-47BAB3A3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576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Sustainable Cities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E41B56-BAD2-4460-810F-7E097D2D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4DCE8"/>
                </a:solidFill>
                <a:latin typeface="Arial"/>
                <a:ea typeface="Arial"/>
                <a:cs typeface="Arial"/>
              </a:rPr>
              <a:t>Indirect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2AE5A1-E33F-4F33-B842-56E4569B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48200"/>
            <a:ext cx="10382250" cy="552450"/>
          </a:xfrm>
          <a:prstGeom xmlns:a="http://schemas.openxmlformats.org/drawingml/2006/main" prst="roundRect">
            <a:avLst>
              <a:gd name="adj" fmla="val 13793"/>
            </a:avLst>
          </a:prstGeom>
          <a:ln xmlns:a="http://schemas.openxmlformats.org/drawingml/2006/main" w="19050">
            <a:solidFill>
              <a:srgbClr val="F5A52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C9B1BB-470F-4681-A13C-72934195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910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A5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A524"/>
                </a:solidFill>
                <a:latin typeface="Arial"/>
                <a:ea typeface="Arial"/>
                <a:cs typeface="Arial"/>
              </a:rPr>
              <a:t>SDG 13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710AAD-C6CF-4BA8-B168-7DE3FDB5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910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Climate 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FAE9E7-57F9-47AB-823C-F0128FDE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910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4DCE8"/>
                </a:solidFill>
                <a:latin typeface="Arial"/>
                <a:ea typeface="Arial"/>
                <a:cs typeface="Arial"/>
              </a:rPr>
              <a:t>Indirect</a:t>
            </a:r>
          </a:p>
        </p:txBody>
      </p:sp>
    </p:spTree>
    <p:extLst>
      <p:ext uri="{BB962C8B-B14F-4D97-AF65-F5344CB8AC3E}">
        <p14:creationId xmlns:p14="http://schemas.microsoft.com/office/powerpoint/2010/main" val="14122591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C2CED-FAC5-4C72-9CC9-803ADD98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3BC9DE"/>
                </a:solidFill>
                <a:latin typeface="Arial"/>
                <a:ea typeface="Arial"/>
                <a:cs typeface="Arial"/>
              </a:defRPr>
            </a:pPr>
            <a:r>
              <a:rPr sz="900" b="1" spc="1">
                <a:solidFill>
                  <a:srgbClr val="3BC9DE"/>
                </a:solidFill>
                <a:latin typeface="Arial"/>
                <a:ea typeface="Arial"/>
                <a:cs typeface="Arial"/>
              </a:rPr>
              <a:t>05 /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258E0-0229-4D07-BBBB-AD2B0689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 spc="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825" b="1" spc="0">
                <a:solidFill>
                  <a:srgbClr val="8A93A6"/>
                </a:solidFill>
                <a:latin typeface="Arial"/>
                <a:ea typeface="Arial"/>
                <a:cs typeface="Arial"/>
              </a:rPr>
              <a:t>SUNEE   /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4F6EA-7494-44AD-8D31-0613AD0B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C3161-566D-4742-9BF3-7A0A1348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8A93A6"/>
                </a:solidFill>
                <a:latin typeface="Arial"/>
                <a:ea typeface="Arial"/>
                <a:cs typeface="Arial"/>
              </a:rPr>
              <a:t>Source: web/public/data/benchmark.json; README.md C++ engine section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3CDB7-213C-45E5-A413-BAB927CA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Same method, two apps, one optional native kernel.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24B0B-3083-4FBC-BC18-4A6B7A5F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905250" cy="3571875"/>
          </a:xfrm>
          <a:prstGeom xmlns:a="http://schemas.openxmlformats.org/drawingml/2006/main" prst="roundRect">
            <a:avLst>
              <a:gd name="adj" fmla="val 2133"/>
            </a:avLst>
          </a:prstGeom>
          <a:ln xmlns:a="http://schemas.openxmlformats.org/drawingml/2006/main" w="19050">
            <a:solidFill>
              <a:srgbClr val="6C8C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3084E-57BE-4176-A4A0-E75E9870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BC9D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BC9DE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61BD3-4090-4E03-B8B6-84D67079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2667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4DCE8"/>
                </a:solidFill>
                <a:latin typeface="Arial"/>
                <a:ea typeface="Arial"/>
                <a:cs typeface="Arial"/>
              </a:rPr>
              <a:t>Streamlit dashboard</a:t>
            </a:r>
          </a:p>
          <a:p xmlns:a="http://schemas.openxmlformats.org/drawingml/2006/main">
            <a:pPr>
              <a:defRPr sz="1500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4DCE8"/>
                </a:solidFill>
                <a:latin typeface="Arial"/>
                <a:ea typeface="Arial"/>
                <a:cs typeface="Arial"/>
              </a:rPr>
              <a:t>Midnight canvas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4DCE8"/>
                </a:solidFill>
                <a:latin typeface="Arial"/>
                <a:ea typeface="Arial"/>
                <a:cs typeface="Arial"/>
              </a:rPr>
              <a:t>Vercel explorer</a:t>
            </a:r>
          </a:p>
          <a:p xmlns:a="http://schemas.openxmlformats.org/drawingml/2006/main">
            <a:pPr>
              <a:defRPr sz="1500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4DCE8"/>
                </a:solidFill>
                <a:latin typeface="Arial"/>
                <a:ea typeface="Arial"/>
                <a:cs typeface="Arial"/>
              </a:rPr>
              <a:t>Contract-driven UI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4DCE8"/>
                </a:solidFill>
                <a:latin typeface="Arial"/>
                <a:ea typeface="Arial"/>
                <a:cs typeface="Arial"/>
              </a:rPr>
              <a:t>Optional C++ kernel</a:t>
            </a:r>
          </a:p>
          <a:p xmlns:a="http://schemas.openxmlformats.org/drawingml/2006/main">
            <a:pPr>
              <a:defRPr sz="1500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4DCE8"/>
                </a:solidFill>
                <a:latin typeface="Arial"/>
                <a:ea typeface="Arial"/>
                <a:cs typeface="Arial"/>
              </a:rPr>
              <a:t>Same analysis contracts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4953000" y="1857375"/>
          <a:ext xmlns:a="http://schemas.openxmlformats.org/drawingml/2006/main" cx="6334125" cy="2333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47875"/>
                <a:gridCol w="1428750"/>
                <a:gridCol w="1428750"/>
                <a:gridCol w="1428750"/>
              </a:tblGrid>
              <a:tr h="583406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Flagship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Wide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K-Means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FD1A5"/>
                          </a:solidFill>
                          <a:latin typeface="Arial"/>
                          <a:ea typeface="Arial"/>
                          <a:cs typeface="Arial"/>
                        </a:rPr>
                        <a:t>5.60×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FD1A5"/>
                          </a:solidFill>
                          <a:latin typeface="Arial"/>
                          <a:ea typeface="Arial"/>
                          <a:cs typeface="Arial"/>
                        </a:rPr>
                        <a:t>6.45×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PCA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0.66×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0.77×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0.29×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End to end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FD1A5"/>
                          </a:solidFill>
                          <a:latin typeface="Arial"/>
                          <a:ea typeface="Arial"/>
                          <a:cs typeface="Arial"/>
                        </a:rPr>
                        <a:t>1.32×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219C5-A4A5-47CE-821C-990ED247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6725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8A93A6"/>
                </a:solidFill>
                <a:latin typeface="Arial"/>
                <a:ea typeface="Arial"/>
                <a:cs typeface="Arial"/>
              </a:rPr>
              <a:t>C++ accelerates K-Means on these shapes. Python and scikit-learn remain the scientific reference; the deck reports slower PCA results too.</a:t>
            </a:r>
          </a:p>
        </p:txBody>
      </p:sp>
    </p:spTree>
    <p:extLst>
      <p:ext uri="{BB962C8B-B14F-4D97-AF65-F5344CB8AC3E}">
        <p14:creationId xmlns:p14="http://schemas.microsoft.com/office/powerpoint/2010/main" val="3467456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E7679-11C0-4EFA-AFC2-9A9EABD6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3BC9DE"/>
                </a:solidFill>
                <a:latin typeface="Arial"/>
                <a:ea typeface="Arial"/>
                <a:cs typeface="Arial"/>
              </a:defRPr>
            </a:pPr>
            <a:r>
              <a:rPr sz="900" b="1" spc="1">
                <a:solidFill>
                  <a:srgbClr val="3BC9DE"/>
                </a:solidFill>
                <a:latin typeface="Arial"/>
                <a:ea typeface="Arial"/>
                <a:cs typeface="Arial"/>
              </a:rPr>
              <a:t>05 /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C8881-23CD-4A40-B5C1-5FC4A64F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 spc="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825" b="1" spc="0">
                <a:solidFill>
                  <a:srgbClr val="8A93A6"/>
                </a:solidFill>
                <a:latin typeface="Arial"/>
                <a:ea typeface="Arial"/>
                <a:cs typeface="Arial"/>
              </a:rPr>
              <a:t>SUNEE   /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F8344-80E8-4025-BFB6-7046756D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DF087-60E5-4F61-8EBC-42A296E7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8A93A6"/>
                </a:solidFill>
                <a:latin typeface="Arial"/>
                <a:ea typeface="Arial"/>
                <a:cs typeface="Arial"/>
              </a:rPr>
              <a:t>Source: RESULTS.md runs 1 and 2; docs/verification.md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CD7A8-B213-4529-88A9-799D8C9F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30-day window already broke this rule once.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52450" y="1809750"/>
          <a:ext xmlns:a="http://schemas.openxmlformats.org/drawingml/2006/main" cx="5572125" cy="2952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47875"/>
                <a:gridCol w="1762125"/>
                <a:gridCol w="1762125"/>
              </a:tblGrid>
              <a:tr h="5905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30 days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365 days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Selected K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5A524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ARI vs archetypes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0.585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FD1A5"/>
                          </a:solidFill>
                          <a:latin typeface="Arial"/>
                          <a:ea typeface="Arial"/>
                          <a:cs typeface="Arial"/>
                        </a:rPr>
                        <a:t>0.813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Seasonal analysis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Unavailable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Amplitude 0.202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Longitudinal analysis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4DCE8"/>
                          </a:solidFill>
                          <a:latin typeface="Arial"/>
                          <a:ea typeface="Arial"/>
                          <a:cs typeface="Arial"/>
                        </a:rPr>
                        <a:t>Not run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4FD1A5"/>
                          </a:solidFill>
                          <a:latin typeface="Arial"/>
                          <a:ea typeface="Arial"/>
                          <a:cs typeface="Arial"/>
                        </a:rPr>
                        <a:t>Mean ARI 0.882</a:t>
                      </a:r>
                    </a:p>
                  </a:txBody>
                  <a:tcPr marL="91440" marR="91440" marT="45720" marB="45720">
                    <a:solidFill>
                      <a:srgbClr val="090F1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64365-C053-4436-8A96-9592E904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09750"/>
            <a:ext cx="4572000" cy="2952750"/>
          </a:xfrm>
          <a:prstGeom xmlns:a="http://schemas.openxmlformats.org/drawingml/2006/main" prst="roundRect">
            <a:avLst>
              <a:gd name="adj" fmla="val 2581"/>
            </a:avLst>
          </a:prstGeom>
          <a:ln xmlns:a="http://schemas.openxmlformats.org/drawingml/2006/main" w="19050">
            <a:solidFill>
              <a:srgbClr val="FF6B6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5D1A4-40E7-4996-A07F-88834201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95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Honesty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096C7-AD12-44DC-8993-C9356E04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67000"/>
            <a:ext cx="3476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418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4DCE8"/>
                </a:solidFill>
                <a:latin typeface="Arial"/>
                <a:ea typeface="Arial"/>
                <a:cs typeface="Arial"/>
              </a:rPr>
              <a:t>Synthetic truth validates the method, not real meters.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4DCE8"/>
                </a:solidFill>
                <a:latin typeface="Arial"/>
                <a:ea typeface="Arial"/>
                <a:cs typeface="Arial"/>
              </a:rPr>
              <a:t>SHAP explains the surrogate, not causality.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4DCE8"/>
                </a:solidFill>
                <a:latin typeface="Arial"/>
                <a:ea typeface="Arial"/>
                <a:cs typeface="Arial"/>
              </a:rPr>
              <a:t>The real-data pathway reports only internal metrics.</a:t>
            </a:r>
          </a:p>
        </p:txBody>
      </p:sp>
    </p:spTree>
    <p:extLst>
      <p:ext uri="{BB962C8B-B14F-4D97-AF65-F5344CB8AC3E}">
        <p14:creationId xmlns:p14="http://schemas.microsoft.com/office/powerpoint/2010/main" val="11416466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6D4E1-3CB5-4A58-ADBF-F24C6A98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3BC9DE"/>
                </a:solidFill>
                <a:latin typeface="Arial"/>
                <a:ea typeface="Arial"/>
                <a:cs typeface="Arial"/>
              </a:defRPr>
            </a:pPr>
            <a:r>
              <a:rPr sz="900" b="1" spc="1">
                <a:solidFill>
                  <a:srgbClr val="3BC9DE"/>
                </a:solidFill>
                <a:latin typeface="Arial"/>
                <a:ea typeface="Arial"/>
                <a:cs typeface="Arial"/>
              </a:rPr>
              <a:t>05 /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EA516-A845-4DD9-BAE2-572FA3D2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 spc="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825" b="1" spc="0">
                <a:solidFill>
                  <a:srgbClr val="8A93A6"/>
                </a:solidFill>
                <a:latin typeface="Arial"/>
                <a:ea typeface="Arial"/>
                <a:cs typeface="Arial"/>
              </a:rPr>
              <a:t>SUNEE   /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997A2-CCD8-4EAC-9227-F3C3EF01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5B41C-74EB-4F09-9B72-DA1D3FD3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8A93A6"/>
                </a:solidFill>
                <a:latin typeface="Arial"/>
                <a:ea typeface="Arial"/>
                <a:cs typeface="Arial"/>
              </a:rPr>
              <a:t>Source: RESULTS.md sections 4 and 6; presentation/index.html slide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E9A28-FBB3-43C8-AD20-BA3DA204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68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The shape of a day is real, recoverable, and modestly separated.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A6B41-B12A-4608-931A-B2D71C78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4857750" cy="2381250"/>
          </a:xfrm>
          <a:prstGeom xmlns:a="http://schemas.openxmlformats.org/drawingml/2006/main" prst="roundRect">
            <a:avLst>
              <a:gd name="adj" fmla="val 3200"/>
            </a:avLst>
          </a:prstGeom>
          <a:ln xmlns:a="http://schemas.openxmlformats.org/drawingml/2006/main" w="19050">
            <a:solidFill>
              <a:srgbClr val="4FD1A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15EE8-E216-456F-B5BB-81B3D6D1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38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FD1A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FD1A5"/>
                </a:solidFill>
                <a:latin typeface="Arial"/>
                <a:ea typeface="Arial"/>
                <a:cs typeface="Arial"/>
              </a:rPr>
              <a:t>What was shown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E7D45-2936-4A59-99F5-99A0CB57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3762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651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D4DCE8"/>
                </a:solidFill>
                <a:latin typeface="Arial"/>
                <a:ea typeface="Arial"/>
                <a:cs typeface="Arial"/>
              </a:rPr>
              <a:t>K = 4 by a fixed rule. ARI 0.813 at the selected K. Four rhythms remain visible through seasonal variation and quarterly re-runs.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FDBFB7-339C-4F8B-B178-1317A58B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4857750" cy="2381250"/>
          </a:xfrm>
          <a:prstGeom xmlns:a="http://schemas.openxmlformats.org/drawingml/2006/main" prst="roundRect">
            <a:avLst>
              <a:gd name="adj" fmla="val 3200"/>
            </a:avLst>
          </a:prstGeom>
          <a:ln xmlns:a="http://schemas.openxmlformats.org/drawingml/2006/main" w="19050">
            <a:solidFill>
              <a:srgbClr val="3BC9D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8BE94-5009-4A90-849B-59C80B65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383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BC9D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BC9DE"/>
                </a:solidFill>
                <a:latin typeface="Arial"/>
                <a:ea typeface="Arial"/>
                <a:cs typeface="Arial"/>
              </a:rPr>
              <a:t>What was not claimed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0BF67-2938-4E46-9282-01231756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09875"/>
            <a:ext cx="3762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651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4DCE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D4DCE8"/>
                </a:solidFill>
                <a:latin typeface="Arial"/>
                <a:ea typeface="Arial"/>
                <a:cs typeface="Arial"/>
              </a:rPr>
              <a:t>Causality, universality, or a production estimate. The separation is modest, the data is synthetic, and short windows change the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385B6-82C7-41B1-BC38-992155BB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91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8A93A6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8A93A6"/>
                </a:solidFill>
                <a:latin typeface="Arial"/>
                <a:ea typeface="Arial"/>
                <a:cs typeface="Arial"/>
              </a:rPr>
              <a:t>Reproduce: py run_module.py energy_analysis -- --n_days 365 --n_consumers 200</a:t>
            </a:r>
          </a:p>
        </p:txBody>
      </p:sp>
    </p:spTree>
    <p:extLst>
      <p:ext uri="{BB962C8B-B14F-4D97-AF65-F5344CB8AC3E}">
        <p14:creationId xmlns:p14="http://schemas.microsoft.com/office/powerpoint/2010/main" val="1555836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2026-09-17T16:12:46.4550000Z</dcterms:created>
  <dcterms:modified xsi:type="dcterms:W3CDTF">2026-09-17T16:12:46.4550000Z</dcterms:modified>
</coreProperties>
</file>